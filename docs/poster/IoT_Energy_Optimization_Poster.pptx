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7"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pos="2074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718" autoAdjust="0"/>
    <p:restoredTop sz="94694" autoAdjust="0"/>
  </p:normalViewPr>
  <p:slideViewPr>
    <p:cSldViewPr snapToGrid="0" snapToObjects="1" showGuides="1">
      <p:cViewPr varScale="1">
        <p:scale>
          <a:sx n="20" d="100"/>
          <a:sy n="20" d="100"/>
        </p:scale>
        <p:origin x="2316" y="90"/>
      </p:cViewPr>
      <p:guideLst>
        <p:guide orient="horz" pos="3318"/>
        <p:guide orient="horz" pos="288"/>
        <p:guide orient="horz" pos="20160"/>
        <p:guide orient="horz"/>
        <p:guide pos="581"/>
        <p:guide pos="27069"/>
        <p:guide pos="20741"/>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79" d="100"/>
          <a:sy n="79" d="100"/>
        </p:scale>
        <p:origin x="-3768" y="-102"/>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commentAuthors" Target="commentAuthors.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8/17/2020</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8/17/2020</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24562715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59674"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477827"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477825"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90292"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90292"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90292"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90292"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90292"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90292"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59674"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54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96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lgn="r" rtl="1">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fa-IR" dirty="0"/>
              <a:t>محتوای خود را اینجا وارد کنید</a:t>
            </a:r>
            <a:endParaRPr lang="en-US" dirty="0"/>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t>
            </a:r>
            <a:r>
              <a:rPr lang="fa-IR" dirty="0"/>
              <a:t>نتیجه‌گیری و روال‌های موجود برای کارهای آتی</a:t>
            </a:r>
            <a:endParaRPr lang="en-US" dirty="0"/>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lgn="r" rtl="1">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fa-IR" dirty="0"/>
              <a:t>محتوای خود را اینجا وارد کنید</a:t>
            </a:r>
            <a:endParaRPr lang="en-US" dirty="0"/>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t>
            </a:r>
            <a:r>
              <a:rPr lang="fa-IR" dirty="0"/>
              <a:t>منابع</a:t>
            </a:r>
            <a:endParaRPr lang="en-US" dirty="0"/>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lgn="r" rtl="1">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fa-IR" dirty="0"/>
              <a:t>محتوای خود را اینجا وارد کنید</a:t>
            </a:r>
            <a:endParaRPr lang="en-US" dirty="0"/>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t>
            </a:r>
            <a:r>
              <a:rPr lang="fa-IR" dirty="0"/>
              <a:t>مرور کارهای انجام شده</a:t>
            </a:r>
            <a:endParaRPr lang="en-US" dirty="0"/>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t>
            </a:r>
            <a:r>
              <a:rPr lang="fa-IR" dirty="0"/>
              <a:t>طرح مسئله</a:t>
            </a:r>
            <a:endParaRPr lang="en-US" dirty="0"/>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lgn="r" rtl="1">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fa-IR" dirty="0"/>
              <a:t>محتوای خود را اینجا وارد کنید</a:t>
            </a:r>
            <a:endParaRPr lang="en-US" dirty="0"/>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a:t>
            </a:r>
            <a:r>
              <a:rPr lang="fa-IR" dirty="0"/>
              <a:t>ادبیات پژوهش</a:t>
            </a:r>
            <a:endParaRPr lang="en-US" dirty="0"/>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lgn="r" rtl="1">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fa-IR" dirty="0"/>
              <a:t>محتوای خود را اینجا وارد کنید</a:t>
            </a:r>
            <a:endParaRPr lang="en-US" dirty="0"/>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54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fa-IR" dirty="0"/>
              <a:t>نام استاد راهنما</a:t>
            </a:r>
            <a:endParaRPr lang="en-US" dirty="0"/>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fa-IR" dirty="0"/>
              <a:t>نام دانشجو</a:t>
            </a:r>
            <a:endParaRPr lang="en-US" dirty="0"/>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96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fa-IR" dirty="0"/>
              <a:t>عنوان پوستر</a:t>
            </a:r>
            <a:endParaRPr lang="en-US" dirty="0"/>
          </a:p>
        </p:txBody>
      </p:sp>
      <p:sp>
        <p:nvSpPr>
          <p:cNvPr id="31" name="TextBox 30"/>
          <p:cNvSpPr txBox="1"/>
          <p:nvPr userDrawn="1"/>
        </p:nvSpPr>
        <p:spPr>
          <a:xfrm>
            <a:off x="14272591" y="9899374"/>
            <a:ext cx="4134679" cy="477054"/>
          </a:xfrm>
          <a:prstGeom prst="rect">
            <a:avLst/>
          </a:prstGeom>
          <a:noFill/>
        </p:spPr>
        <p:txBody>
          <a:bodyPr wrap="square" rtlCol="0">
            <a:spAutoFit/>
          </a:bodyPr>
          <a:lstStyle/>
          <a:p>
            <a:endParaRPr lang="en-US" sz="2500" dirty="0">
              <a:solidFill>
                <a:schemeClr val="accent5">
                  <a:lumMod val="50000"/>
                </a:schemeClr>
              </a:solidFill>
              <a:latin typeface="Times New Roman" panose="02020603050405020304" pitchFamily="18" charset="0"/>
              <a:cs typeface="Times New Roman" panose="02020603050405020304" pitchFamily="18"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anose="02020603050405020304" pitchFamily="18" charset="0"/>
                <a:cs typeface="Times New Roman" panose="02020603050405020304"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anose="02020603050405020304" pitchFamily="18" charset="0"/>
                <a:cs typeface="Times New Roman" panose="02020603050405020304"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anose="02020603050405020304" pitchFamily="18" charset="0"/>
                <a:cs typeface="Times New Roman" panose="02020603050405020304"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anose="02020603050405020304" pitchFamily="18" charset="0"/>
                <a:cs typeface="Times New Roman" panose="02020603050405020304"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anose="02020603050405020304" pitchFamily="18" charset="0"/>
                <a:cs typeface="Times New Roman" panose="02020603050405020304"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anose="02020603050405020304" pitchFamily="18" charset="0"/>
                <a:cs typeface="Times New Roman" panose="02020603050405020304"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anose="02020603050405020304" pitchFamily="18" charset="0"/>
                <a:cs typeface="Times New Roman" panose="02020603050405020304"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54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96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hyperlink" Target="https://www.posterpresentations.com/how-to-change-the-research-poster-template-colors.html" TargetMode="External"/><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image" Target="../media/image7.png"/><Relationship Id="rId11" Type="http://schemas.openxmlformats.org/officeDocument/2006/relationships/image" Target="../media/image8.png"/><Relationship Id="rId12" Type="http://schemas.openxmlformats.org/officeDocument/2006/relationships/image" Target="../media/image9.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hyperlink" Target="https://www.posterpresentations.com/how-to-change-the-research-poster-template-colors.html" TargetMode="External"/><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image" Target="../media/image7.png"/><Relationship Id="rId11" Type="http://schemas.openxmlformats.org/officeDocument/2006/relationships/image" Target="../media/image8.png"/><Relationship Id="rId12" Type="http://schemas.openxmlformats.org/officeDocument/2006/relationships/image" Target="../media/image9.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hyperlink" Target="https://www.posterpresentations.com/how-to-change-the-research-poster-template-colors.html" TargetMode="External"/><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image" Target="../media/image7.png"/><Relationship Id="rId11" Type="http://schemas.openxmlformats.org/officeDocument/2006/relationships/image" Target="../media/image8.png"/><Relationship Id="rId12" Type="http://schemas.openxmlformats.org/officeDocument/2006/relationships/image" Target="../media/image9.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68" name="Rectangle 67"/>
          <p:cNvSpPr/>
          <p:nvPr userDrawn="1"/>
        </p:nvSpPr>
        <p:spPr>
          <a:xfrm rot="10800000">
            <a:off x="0" y="31869601"/>
            <a:ext cx="43891200" cy="1042617"/>
          </a:xfrm>
          <a:prstGeom prst="rect">
            <a:avLst/>
          </a:prstGeom>
          <a:gradFill flip="none" rotWithShape="1">
            <a:gsLst>
              <a:gs pos="0">
                <a:schemeClr val="accent1">
                  <a:tint val="66000"/>
                  <a:satMod val="16000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ounded Rectangle 1"/>
          <p:cNvSpPr/>
          <p:nvPr userDrawn="1"/>
        </p:nvSpPr>
        <p:spPr>
          <a:xfrm>
            <a:off x="446073" y="5475145"/>
            <a:ext cx="10058400" cy="26736675"/>
          </a:xfrm>
          <a:prstGeom prst="roundRect">
            <a:avLst>
              <a:gd name="adj" fmla="val 1956"/>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ounded Rectangle 39"/>
          <p:cNvSpPr/>
          <p:nvPr userDrawn="1"/>
        </p:nvSpPr>
        <p:spPr>
          <a:xfrm>
            <a:off x="11428937" y="5475142"/>
            <a:ext cx="10058400" cy="26736675"/>
          </a:xfrm>
          <a:prstGeom prst="roundRect">
            <a:avLst>
              <a:gd name="adj" fmla="val 1956"/>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ounded Rectangle 41"/>
          <p:cNvSpPr/>
          <p:nvPr userDrawn="1"/>
        </p:nvSpPr>
        <p:spPr>
          <a:xfrm>
            <a:off x="22411801" y="5475143"/>
            <a:ext cx="10058400" cy="26736675"/>
          </a:xfrm>
          <a:prstGeom prst="roundRect">
            <a:avLst>
              <a:gd name="adj" fmla="val 1956"/>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ounded Rectangle 63"/>
          <p:cNvSpPr/>
          <p:nvPr userDrawn="1"/>
        </p:nvSpPr>
        <p:spPr>
          <a:xfrm>
            <a:off x="33394664" y="5475144"/>
            <a:ext cx="10058400" cy="26736675"/>
          </a:xfrm>
          <a:prstGeom prst="roundRect">
            <a:avLst>
              <a:gd name="adj" fmla="val 1956"/>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36"/>
          <p:cNvSpPr>
            <a:spLocks noChangeArrowheads="1"/>
          </p:cNvSpPr>
          <p:nvPr/>
        </p:nvSpPr>
        <p:spPr bwMode="auto">
          <a:xfrm>
            <a:off x="0" y="0"/>
            <a:ext cx="43891200" cy="4800600"/>
          </a:xfrm>
          <a:prstGeom prst="rect">
            <a:avLst/>
          </a:prstGeom>
          <a:noFill/>
          <a:ln w="9525">
            <a:no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90910"/>
            <a:ext cx="2514600" cy="341436"/>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2019</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6" name="Rectangle 5"/>
          <p:cNvSpPr/>
          <p:nvPr userDrawn="1"/>
        </p:nvSpPr>
        <p:spPr>
          <a:xfrm>
            <a:off x="0" y="-55065"/>
            <a:ext cx="43891200" cy="1042617"/>
          </a:xfrm>
          <a:prstGeom prst="rect">
            <a:avLst/>
          </a:prstGeom>
          <a:gradFill flip="none" rotWithShape="1">
            <a:gsLst>
              <a:gs pos="0">
                <a:schemeClr val="accent1">
                  <a:tint val="66000"/>
                  <a:satMod val="16000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p:cNvSpPr/>
          <p:nvPr userDrawn="1"/>
        </p:nvSpPr>
        <p:spPr>
          <a:xfrm>
            <a:off x="6096" y="4742487"/>
            <a:ext cx="43891200" cy="274521"/>
          </a:xfrm>
          <a:prstGeom prst="rect">
            <a:avLst/>
          </a:prstGeom>
          <a:gradFill>
            <a:gsLst>
              <a:gs pos="100000">
                <a:srgbClr val="DAE9F6"/>
              </a:gs>
              <a:gs pos="0">
                <a:schemeClr val="accent1">
                  <a:tint val="66000"/>
                  <a:satMod val="160000"/>
                </a:schemeClr>
              </a:gs>
              <a:gs pos="51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4" name="Table 13">
            <a:extLst>
              <a:ext uri="{FF2B5EF4-FFF2-40B4-BE49-F238E27FC236}">
                <a16:creationId xmlns:a16="http://schemas.microsoft.com/office/drawing/2014/main" id="{5E7E35C1-C5E6-D449-BDEC-ABC64AD5AC16}"/>
              </a:ext>
            </a:extLst>
          </p:cNvPr>
          <p:cNvGraphicFramePr>
            <a:graphicFrameLocks noGrp="1"/>
          </p:cNvGraphicFramePr>
          <p:nvPr userDrawn="1">
            <p:extLst>
              <p:ext uri="{D42A27DB-BD31-4B8C-83A1-F6EECF244321}">
                <p14:modId xmlns:p14="http://schemas.microsoft.com/office/powerpoint/2010/main" val="1223353935"/>
              </p:ext>
            </p:extLst>
          </p:nvPr>
        </p:nvGraphicFramePr>
        <p:xfrm>
          <a:off x="-10611120" y="14098"/>
          <a:ext cx="9776869" cy="32679220"/>
        </p:xfrm>
        <a:graphic>
          <a:graphicData uri="http://schemas.openxmlformats.org/drawingml/2006/table">
            <a:tbl>
              <a:tblPr firstRow="1" bandRow="1">
                <a:tableStyleId>{5C22544A-7EE6-4342-B048-85BDC9FD1C3A}</a:tableStyleId>
              </a:tblPr>
              <a:tblGrid>
                <a:gridCol w="4192245">
                  <a:extLst>
                    <a:ext uri="{9D8B030D-6E8A-4147-A177-3AD203B41FA5}">
                      <a16:colId xmlns:a16="http://schemas.microsoft.com/office/drawing/2014/main" val="20000"/>
                    </a:ext>
                  </a:extLst>
                </a:gridCol>
                <a:gridCol w="5584624">
                  <a:extLst>
                    <a:ext uri="{9D8B030D-6E8A-4147-A177-3AD203B41FA5}">
                      <a16:colId xmlns:a16="http://schemas.microsoft.com/office/drawing/2014/main" val="20001"/>
                    </a:ext>
                  </a:extLst>
                </a:gridCol>
              </a:tblGrid>
              <a:tr h="1329113">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3600" b="0" spc="600" dirty="0">
                          <a:solidFill>
                            <a:srgbClr val="1F3A4E"/>
                          </a:solidFill>
                          <a:latin typeface="Arial Black" panose="020B0A04020102020204" pitchFamily="34" charset="0"/>
                        </a:rPr>
                        <a:t>QUICK START GUIDE</a:t>
                      </a:r>
                      <a:br>
                        <a:rPr lang="en-US" sz="3600" b="0" spc="600" dirty="0">
                          <a:solidFill>
                            <a:srgbClr val="1F3A4E"/>
                          </a:solidFill>
                          <a:latin typeface="Arial Black" panose="020B0A04020102020204" pitchFamily="34" charset="0"/>
                        </a:rPr>
                      </a:br>
                      <a:r>
                        <a:rPr lang="en-US" sz="2800" b="1" spc="0" dirty="0">
                          <a:solidFill>
                            <a:srgbClr val="FF0000"/>
                          </a:solidFill>
                          <a:latin typeface="Trebuchet MS" pitchFamily="34" charset="0"/>
                        </a:rPr>
                        <a:t>(THIS SIDEBAR WILL NOT PRINT)</a:t>
                      </a:r>
                      <a:endParaRPr lang="en-US" sz="36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06624">
                <a:tc gridSpan="2">
                  <a:txBody>
                    <a:bodyPr/>
                    <a:lstStyle/>
                    <a:p>
                      <a:pPr defTabSz="3765639"/>
                      <a:r>
                        <a:rPr lang="en-US" sz="2000" i="0" dirty="0">
                          <a:solidFill>
                            <a:srgbClr val="D9D9D9"/>
                          </a:solidFill>
                          <a:latin typeface="Arial"/>
                          <a:cs typeface="Arial"/>
                        </a:rPr>
                        <a:t>This PowerPoint template produces a </a:t>
                      </a:r>
                      <a:r>
                        <a:rPr lang="en-US" sz="2000" i="0" dirty="0">
                          <a:solidFill>
                            <a:srgbClr val="FFC000"/>
                          </a:solidFill>
                          <a:latin typeface="Arial"/>
                          <a:cs typeface="Arial"/>
                        </a:rPr>
                        <a:t>standard screen size (4:3 Ratio) virtual </a:t>
                      </a:r>
                      <a:r>
                        <a:rPr lang="en-US" sz="20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000" i="0" dirty="0">
                        <a:solidFill>
                          <a:srgbClr val="D9D9D9"/>
                        </a:solidFill>
                        <a:latin typeface="Arial"/>
                        <a:cs typeface="Arial"/>
                      </a:endParaRPr>
                    </a:p>
                    <a:p>
                      <a:pPr defTabSz="3765639"/>
                      <a:r>
                        <a:rPr lang="en-US" sz="20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000" i="0" dirty="0" err="1">
                          <a:solidFill>
                            <a:srgbClr val="FFC000"/>
                          </a:solidFill>
                          <a:latin typeface="Arial"/>
                          <a:cs typeface="Arial"/>
                        </a:rPr>
                        <a:t>PosterPresentations.com</a:t>
                      </a:r>
                      <a:r>
                        <a:rPr lang="en-US" sz="2000" i="0" dirty="0">
                          <a:solidFill>
                            <a:srgbClr val="D9D9D9"/>
                          </a:solidFill>
                          <a:latin typeface="Arial"/>
                          <a:cs typeface="Arial"/>
                        </a:rPr>
                        <a:t> and click on the  </a:t>
                      </a:r>
                      <a:r>
                        <a:rPr lang="en-US" sz="2000" i="0" dirty="0">
                          <a:solidFill>
                            <a:srgbClr val="FFC000"/>
                          </a:solidFill>
                          <a:latin typeface="Arial"/>
                          <a:cs typeface="Arial"/>
                        </a:rPr>
                        <a:t>HELP DESK</a:t>
                      </a:r>
                      <a:r>
                        <a:rPr lang="en-US" sz="2000" i="0" baseline="0" dirty="0">
                          <a:solidFill>
                            <a:srgbClr val="D9D9D9"/>
                          </a:solidFill>
                          <a:latin typeface="Arial"/>
                          <a:cs typeface="Arial"/>
                        </a:rPr>
                        <a:t> </a:t>
                      </a:r>
                      <a:r>
                        <a:rPr lang="en-US" sz="2000" i="0" dirty="0">
                          <a:solidFill>
                            <a:srgbClr val="D9D9D9"/>
                          </a:solidFill>
                          <a:latin typeface="Arial"/>
                          <a:cs typeface="Arial"/>
                        </a:rPr>
                        <a:t>tab.</a:t>
                      </a:r>
                    </a:p>
                    <a:p>
                      <a:pPr defTabSz="3765639"/>
                      <a:endParaRPr lang="en-US" sz="2000" i="0" dirty="0">
                        <a:solidFill>
                          <a:srgbClr val="D9D9D9"/>
                        </a:solidFill>
                        <a:latin typeface="Arial"/>
                        <a:cs typeface="Arial"/>
                      </a:endParaRPr>
                    </a:p>
                    <a:p>
                      <a:pPr defTabSz="3765639"/>
                      <a:r>
                        <a:rPr lang="en-US" sz="2000" i="0" dirty="0">
                          <a:solidFill>
                            <a:srgbClr val="D9D9D9"/>
                          </a:solidFill>
                          <a:latin typeface="Arial"/>
                          <a:cs typeface="Arial"/>
                        </a:rPr>
                        <a:t>To print your poster using our same-day professional printing service, go online to </a:t>
                      </a:r>
                      <a:r>
                        <a:rPr lang="en-US" sz="2000" i="0" dirty="0" err="1">
                          <a:solidFill>
                            <a:srgbClr val="FFC000"/>
                          </a:solidFill>
                          <a:latin typeface="Arial"/>
                          <a:cs typeface="Arial"/>
                        </a:rPr>
                        <a:t>PosterPresentations.com</a:t>
                      </a:r>
                      <a:r>
                        <a:rPr lang="en-US" sz="2000" i="0" dirty="0">
                          <a:solidFill>
                            <a:srgbClr val="D9D9D9"/>
                          </a:solidFill>
                          <a:latin typeface="Arial"/>
                          <a:cs typeface="Arial"/>
                        </a:rPr>
                        <a:t> and click on "</a:t>
                      </a:r>
                      <a:r>
                        <a:rPr lang="en-US" sz="2000" i="0" dirty="0">
                          <a:solidFill>
                            <a:srgbClr val="FFC000"/>
                          </a:solidFill>
                          <a:latin typeface="Arial"/>
                          <a:cs typeface="Arial"/>
                        </a:rPr>
                        <a:t>Order your poster</a:t>
                      </a:r>
                      <a:r>
                        <a:rPr lang="en-US" sz="2000" i="0" dirty="0">
                          <a:solidFill>
                            <a:srgbClr val="D9D9D9"/>
                          </a:solidFill>
                          <a:latin typeface="Arial"/>
                          <a:cs typeface="Arial"/>
                        </a:rPr>
                        <a:t>".</a:t>
                      </a:r>
                      <a:endParaRPr lang="en-US" sz="20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4572417">
                <a:tc>
                  <a:txBody>
                    <a:bodyPr/>
                    <a:lstStyle/>
                    <a:p>
                      <a:pPr algn="ctr"/>
                      <a:endParaRPr lang="en-US" sz="2000" dirty="0">
                        <a:solidFill>
                          <a:srgbClr val="1F3A4E"/>
                        </a:solidFill>
                      </a:endParaRPr>
                    </a:p>
                    <a:p>
                      <a:pPr algn="ctr"/>
                      <a:endParaRPr lang="en-US" sz="2000" dirty="0">
                        <a:solidFill>
                          <a:srgbClr val="1F3A4E"/>
                        </a:solidFill>
                      </a:endParaRPr>
                    </a:p>
                    <a:p>
                      <a:pPr algn="ctr"/>
                      <a:r>
                        <a:rPr lang="en-US" sz="2000" dirty="0">
                          <a:solidFill>
                            <a:schemeClr val="bg1"/>
                          </a:solidFill>
                          <a:latin typeface="Arial" panose="020B0604020202020204" pitchFamily="34" charset="0"/>
                          <a:cs typeface="Arial" panose="020B0604020202020204" pitchFamily="34" charset="0"/>
                        </a:rPr>
                        <a:t>This is a template for a </a:t>
                      </a:r>
                    </a:p>
                    <a:p>
                      <a:pPr algn="ctr"/>
                      <a:r>
                        <a:rPr lang="en-US" sz="2000" dirty="0">
                          <a:solidFill>
                            <a:schemeClr val="bg1"/>
                          </a:solidFill>
                          <a:latin typeface="Arial" panose="020B0604020202020204" pitchFamily="34" charset="0"/>
                          <a:cs typeface="Arial" panose="020B0604020202020204" pitchFamily="34" charset="0"/>
                        </a:rPr>
                        <a:t>presentation poster</a:t>
                      </a:r>
                      <a:br>
                        <a:rPr lang="en-US" sz="2000" dirty="0">
                          <a:solidFill>
                            <a:schemeClr val="bg1"/>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Virtual</a:t>
                      </a:r>
                      <a:br>
                        <a:rPr lang="en-US" sz="3600" b="1" dirty="0">
                          <a:solidFill>
                            <a:srgbClr val="FFC000"/>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Standard Size</a:t>
                      </a:r>
                      <a:br>
                        <a:rPr lang="en-US" sz="3600" b="1" dirty="0">
                          <a:solidFill>
                            <a:srgbClr val="FFC000"/>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(4:3 Ratio)</a:t>
                      </a:r>
                      <a:br>
                        <a:rPr lang="en-US" sz="2000" dirty="0">
                          <a:solidFill>
                            <a:schemeClr val="bg1"/>
                          </a:solidFill>
                          <a:latin typeface="Arial" panose="020B0604020202020204" pitchFamily="34" charset="0"/>
                          <a:cs typeface="Arial" panose="020B0604020202020204" pitchFamily="34" charset="0"/>
                        </a:rPr>
                      </a:br>
                      <a:endParaRPr lang="en-US" sz="20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baseline="0" dirty="0">
                          <a:solidFill>
                            <a:srgbClr val="FFC000"/>
                          </a:solidFill>
                          <a:latin typeface="Arial" panose="020B0604020202020204" pitchFamily="34" charset="0"/>
                          <a:cs typeface="Arial" panose="020B0604020202020204" pitchFamily="34" charset="0"/>
                        </a:rPr>
                        <a:t>Important: Check the template size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30 tall x 40 wide</a:t>
                      </a:r>
                    </a:p>
                    <a:p>
                      <a:pPr marL="0" marR="0" indent="0" algn="l" defTabSz="4388900" rtl="0" eaLnBrk="1" fontAlgn="auto" latinLnBrk="0" hangingPunct="1">
                        <a:lnSpc>
                          <a:spcPct val="100000"/>
                        </a:lnSpc>
                        <a:spcBef>
                          <a:spcPts val="0"/>
                        </a:spcBef>
                        <a:spcAft>
                          <a:spcPts val="0"/>
                        </a:spcAft>
                        <a:buClrTx/>
                        <a:buSzTx/>
                        <a:buFontTx/>
                        <a:buNone/>
                        <a:tabLst/>
                        <a:defRPr/>
                      </a:pPr>
                      <a:r>
                        <a:rPr lang="en-US" sz="2000" b="0" baseline="0" dirty="0">
                          <a:solidFill>
                            <a:srgbClr val="FFC000"/>
                          </a:solidFill>
                          <a:latin typeface="Arial" panose="020B0604020202020204" pitchFamily="34" charset="0"/>
                          <a:cs typeface="Arial" panose="020B0604020202020204" pitchFamily="34" charset="0"/>
                        </a:rPr>
                        <a:t>36 tall x 48 wide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42 tall x 56 wide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48 tall x 64 wide</a:t>
                      </a:r>
                    </a:p>
                  </a:txBody>
                  <a:tcPr marL="182880" marT="137160">
                    <a:solidFill>
                      <a:srgbClr val="010101"/>
                    </a:solidFill>
                  </a:tcPr>
                </a:tc>
                <a:extLst>
                  <a:ext uri="{0D108BD9-81ED-4DB2-BD59-A6C34878D82A}">
                    <a16:rowId xmlns:a16="http://schemas.microsoft.com/office/drawing/2014/main" val="10008"/>
                  </a:ext>
                </a:extLst>
              </a:tr>
              <a:tr h="4288692">
                <a:tc>
                  <a:txBody>
                    <a:bodyPr/>
                    <a:lstStyle/>
                    <a:p>
                      <a:endParaRPr lang="en-US" sz="2000" dirty="0">
                        <a:solidFill>
                          <a:srgbClr val="1F3A4E"/>
                        </a:solidFill>
                      </a:endParaRPr>
                    </a:p>
                  </a:txBody>
                  <a:tcPr>
                    <a:blipFill rotWithShape="1">
                      <a:blip r:embed="rId3"/>
                      <a:stretch>
                        <a:fillRect/>
                      </a:stretch>
                    </a:blipFill>
                  </a:tcPr>
                </a:tc>
                <a:tc>
                  <a:txBody>
                    <a:bodyPr/>
                    <a:lstStyle/>
                    <a:p>
                      <a:pPr algn="l"/>
                      <a:r>
                        <a:rPr lang="en-US" sz="2400" b="1" baseline="0" dirty="0">
                          <a:solidFill>
                            <a:srgbClr val="FFC000"/>
                          </a:solidFill>
                          <a:latin typeface="Arial" panose="020B0604020202020204" pitchFamily="34" charset="0"/>
                          <a:cs typeface="Arial" panose="020B0604020202020204" pitchFamily="34" charset="0"/>
                        </a:rPr>
                        <a:t>How to </a:t>
                      </a:r>
                      <a:r>
                        <a:rPr lang="en-US" sz="4000" b="1" baseline="0" dirty="0">
                          <a:solidFill>
                            <a:srgbClr val="FFC000"/>
                          </a:solidFill>
                          <a:latin typeface="Arial" panose="020B0604020202020204" pitchFamily="34" charset="0"/>
                          <a:cs typeface="Arial" panose="020B0604020202020204" pitchFamily="34" charset="0"/>
                        </a:rPr>
                        <a:t>Zoom in </a:t>
                      </a:r>
                      <a:r>
                        <a:rPr lang="en-US" sz="2400" b="1" baseline="0" dirty="0">
                          <a:solidFill>
                            <a:srgbClr val="FFC000"/>
                          </a:solidFill>
                          <a:latin typeface="Arial" panose="020B0604020202020204" pitchFamily="34" charset="0"/>
                          <a:cs typeface="Arial" panose="020B0604020202020204" pitchFamily="34" charset="0"/>
                        </a:rPr>
                        <a:t>and </a:t>
                      </a:r>
                      <a:r>
                        <a:rPr lang="en-US" sz="1800" b="1" baseline="0" dirty="0">
                          <a:solidFill>
                            <a:srgbClr val="FFC000"/>
                          </a:solidFill>
                          <a:latin typeface="Arial" panose="020B0604020202020204" pitchFamily="34" charset="0"/>
                          <a:cs typeface="Arial" panose="020B0604020202020204" pitchFamily="34" charset="0"/>
                        </a:rPr>
                        <a:t>out</a:t>
                      </a:r>
                      <a:endParaRPr lang="en-US" sz="2400" b="1" baseline="0" dirty="0">
                        <a:solidFill>
                          <a:srgbClr val="FFC000"/>
                        </a:solidFill>
                        <a:latin typeface="Arial" panose="020B0604020202020204" pitchFamily="34" charset="0"/>
                        <a:cs typeface="Arial" panose="020B0604020202020204" pitchFamily="34" charset="0"/>
                      </a:endParaRPr>
                    </a:p>
                    <a:p>
                      <a:pPr algn="l"/>
                      <a:r>
                        <a:rPr lang="en-US" sz="20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1. </a:t>
                      </a:r>
                      <a:r>
                        <a:rPr lang="en-US" sz="20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2. </a:t>
                      </a:r>
                      <a:r>
                        <a:rPr lang="en-US" sz="20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1800526">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400" b="1" baseline="0" dirty="0">
                          <a:solidFill>
                            <a:srgbClr val="FFC000"/>
                          </a:solidFill>
                          <a:latin typeface="Arial" panose="020B0604020202020204" pitchFamily="34" charset="0"/>
                          <a:cs typeface="Arial" panose="020B0604020202020204" pitchFamily="34" charset="0"/>
                        </a:rPr>
                        <a:t>Ruler and Guides</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3824339">
                <a:tc>
                  <a:txBody>
                    <a:bodyPr/>
                    <a:lstStyle/>
                    <a:p>
                      <a:endParaRPr lang="en-US" sz="2000" dirty="0">
                        <a:solidFill>
                          <a:srgbClr val="1F3A4E"/>
                        </a:solidFill>
                      </a:endParaRPr>
                    </a:p>
                  </a:txBody>
                  <a:tcPr>
                    <a:blipFill rotWithShape="1">
                      <a:blip r:embed="rId4"/>
                      <a:stretch>
                        <a:fillRect/>
                      </a:stretch>
                    </a:blipFill>
                  </a:tcPr>
                </a:tc>
                <a:tc>
                  <a:txBody>
                    <a:bodyPr/>
                    <a:lstStyle/>
                    <a:p>
                      <a:pPr marL="0" lvl="1" indent="0" algn="l" defTabSz="114300"/>
                      <a:r>
                        <a:rPr lang="en-US" sz="2400" b="1" baseline="0" dirty="0">
                          <a:solidFill>
                            <a:srgbClr val="FFC000"/>
                          </a:solidFill>
                          <a:latin typeface="Arial" panose="020B0604020202020204" pitchFamily="34" charset="0"/>
                          <a:cs typeface="Arial" panose="020B0604020202020204" pitchFamily="34" charset="0"/>
                        </a:rPr>
                        <a:t>Headers and text containers</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519135">
                <a:tc gridSpan="2">
                  <a:txBody>
                    <a:bodyPr/>
                    <a:lstStyle/>
                    <a:p>
                      <a:r>
                        <a:rPr lang="en-US" sz="2400" b="1" dirty="0">
                          <a:solidFill>
                            <a:srgbClr val="FFC000"/>
                          </a:solidFill>
                          <a:latin typeface="Arial" panose="020B0604020202020204" pitchFamily="34" charset="0"/>
                          <a:cs typeface="Arial" panose="020B0604020202020204" pitchFamily="34" charset="0"/>
                        </a:rPr>
                        <a:t>Adding content to the poster</a:t>
                      </a:r>
                    </a:p>
                    <a:p>
                      <a:r>
                        <a:rPr lang="en-US" sz="20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0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0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377657">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93170">
                <a:tc gridSpan="2">
                  <a:txBody>
                    <a:bodyPr/>
                    <a:lstStyle/>
                    <a:p>
                      <a:endParaRPr lang="en-US" sz="20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280277">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0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187270">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0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aphicFrame>
        <p:nvGraphicFramePr>
          <p:cNvPr id="13" name="Table 12">
            <a:extLst>
              <a:ext uri="{FF2B5EF4-FFF2-40B4-BE49-F238E27FC236}">
                <a16:creationId xmlns:a16="http://schemas.microsoft.com/office/drawing/2014/main" id="{A320BF44-9B9A-C84B-83BB-0BF518EB46F3}"/>
              </a:ext>
            </a:extLst>
          </p:cNvPr>
          <p:cNvGraphicFramePr>
            <a:graphicFrameLocks noGrp="1"/>
          </p:cNvGraphicFramePr>
          <p:nvPr userDrawn="1">
            <p:extLst>
              <p:ext uri="{D42A27DB-BD31-4B8C-83A1-F6EECF244321}">
                <p14:modId xmlns:p14="http://schemas.microsoft.com/office/powerpoint/2010/main" val="141159618"/>
              </p:ext>
            </p:extLst>
          </p:nvPr>
        </p:nvGraphicFramePr>
        <p:xfrm>
          <a:off x="44635119" y="14098"/>
          <a:ext cx="9619281" cy="32847657"/>
        </p:xfrm>
        <a:graphic>
          <a:graphicData uri="http://schemas.openxmlformats.org/drawingml/2006/table">
            <a:tbl>
              <a:tblPr firstRow="1" bandRow="1">
                <a:tableStyleId>{5C22544A-7EE6-4342-B048-85BDC9FD1C3A}</a:tableStyleId>
              </a:tblPr>
              <a:tblGrid>
                <a:gridCol w="3585856">
                  <a:extLst>
                    <a:ext uri="{9D8B030D-6E8A-4147-A177-3AD203B41FA5}">
                      <a16:colId xmlns:a16="http://schemas.microsoft.com/office/drawing/2014/main" val="20000"/>
                    </a:ext>
                  </a:extLst>
                </a:gridCol>
                <a:gridCol w="1199648">
                  <a:extLst>
                    <a:ext uri="{9D8B030D-6E8A-4147-A177-3AD203B41FA5}">
                      <a16:colId xmlns:a16="http://schemas.microsoft.com/office/drawing/2014/main" val="997673227"/>
                    </a:ext>
                  </a:extLst>
                </a:gridCol>
                <a:gridCol w="4833777">
                  <a:extLst>
                    <a:ext uri="{9D8B030D-6E8A-4147-A177-3AD203B41FA5}">
                      <a16:colId xmlns:a16="http://schemas.microsoft.com/office/drawing/2014/main" val="4164475170"/>
                    </a:ext>
                  </a:extLst>
                </a:gridCol>
              </a:tblGrid>
              <a:tr h="1296236">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076923">
                <a:tc gridSpan="3">
                  <a:txBody>
                    <a:bodyPr/>
                    <a:lstStyle/>
                    <a:p>
                      <a:pPr algn="l"/>
                      <a:r>
                        <a:rPr lang="en-US" sz="29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sz="2400" dirty="0">
                        <a:solidFill>
                          <a:srgbClr val="1F3A4E"/>
                        </a:solidFill>
                      </a:endParaRPr>
                    </a:p>
                  </a:txBody>
                  <a:tcPr marL="182880" marT="137160">
                    <a:blipFill rotWithShape="1">
                      <a:blip r:embed="rId8"/>
                      <a:stretch>
                        <a:fillRect/>
                      </a:stretch>
                    </a:blipFill>
                  </a:tcPr>
                </a:tc>
                <a:tc hMerge="1">
                  <a:txBody>
                    <a:bodyPr/>
                    <a:lstStyle/>
                    <a:p>
                      <a:endParaRPr lang="en-US"/>
                    </a:p>
                  </a:txBody>
                  <a:tcPr/>
                </a:tc>
                <a:extLst>
                  <a:ext uri="{0D108BD9-81ED-4DB2-BD59-A6C34878D82A}">
                    <a16:rowId xmlns:a16="http://schemas.microsoft.com/office/drawing/2014/main" val="10001"/>
                  </a:ext>
                </a:extLst>
              </a:tr>
              <a:tr h="2854805">
                <a:tc gridSpan="3">
                  <a:txBody>
                    <a:bodyPr/>
                    <a:lstStyle/>
                    <a:p>
                      <a:r>
                        <a:rPr lang="en-US" sz="29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8600" u="sng" dirty="0">
                        <a:solidFill>
                          <a:srgbClr val="FFC000"/>
                        </a:solidFill>
                      </a:endParaRPr>
                    </a:p>
                  </a:txBody>
                  <a:tcPr marL="182880" marT="137160">
                    <a:solidFill>
                      <a:schemeClr val="tx1"/>
                    </a:solidFill>
                  </a:tcPr>
                </a:tc>
                <a:tc hMerge="1">
                  <a:txBody>
                    <a:bodyPr/>
                    <a:lstStyle/>
                    <a:p>
                      <a:endParaRPr lang="en-US" sz="2400" dirty="0">
                        <a:solidFill>
                          <a:srgbClr val="1F3A4E"/>
                        </a:solidFill>
                      </a:endParaRPr>
                    </a:p>
                  </a:txBody>
                  <a:tcPr marL="182880" marT="137160">
                    <a:blipFill rotWithShape="1">
                      <a:blip r:embed="rId9"/>
                      <a:stretch>
                        <a:fillRect/>
                      </a:stretch>
                    </a:blipFill>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35361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10">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row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391719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a:txBody>
                    <a:bodyPr/>
                    <a:lstStyle/>
                    <a:p>
                      <a:endParaRPr lang="en-US"/>
                    </a:p>
                  </a:txBody>
                  <a:tcPr/>
                </a:tc>
                <a:tc vMerge="1">
                  <a:txBody>
                    <a:bodyPr/>
                    <a:lstStyle/>
                    <a:p>
                      <a:endParaRPr lang="en-US"/>
                    </a:p>
                  </a:txBody>
                  <a:tcPr/>
                </a:tc>
                <a:extLst>
                  <a:ext uri="{0D108BD9-81ED-4DB2-BD59-A6C34878D82A}">
                    <a16:rowId xmlns:a16="http://schemas.microsoft.com/office/drawing/2014/main" val="1766341567"/>
                  </a:ext>
                </a:extLst>
              </a:tr>
              <a:tr h="3672668">
                <a:tc gridSpan="2">
                  <a:txBody>
                    <a:bodyPr/>
                    <a:lstStyle/>
                    <a:p>
                      <a:r>
                        <a:rPr lang="en-US" sz="2900" b="1" dirty="0">
                          <a:solidFill>
                            <a:srgbClr val="FFC000"/>
                          </a:solidFill>
                          <a:latin typeface="Arial" panose="020B0604020202020204" pitchFamily="34" charset="0"/>
                          <a:cs typeface="Arial" panose="020B0604020202020204" pitchFamily="34" charset="0"/>
                        </a:rPr>
                        <a:t>How to</a:t>
                      </a:r>
                      <a:r>
                        <a:rPr lang="en-US" sz="2900" b="1" baseline="0" dirty="0">
                          <a:solidFill>
                            <a:srgbClr val="FFC000"/>
                          </a:solidFill>
                          <a:latin typeface="Arial" panose="020B0604020202020204" pitchFamily="34" charset="0"/>
                          <a:cs typeface="Arial" panose="020B0604020202020204" pitchFamily="34" charset="0"/>
                        </a:rPr>
                        <a:t> preview your poster prior to presenting</a:t>
                      </a:r>
                      <a:endParaRPr lang="en-US" sz="2900" b="1" dirty="0">
                        <a:solidFill>
                          <a:srgbClr val="FFC000"/>
                        </a:solidFill>
                        <a:latin typeface="Arial" panose="020B0604020202020204" pitchFamily="34" charset="0"/>
                        <a:cs typeface="Arial" panose="020B0604020202020204" pitchFamily="34" charset="0"/>
                      </a:endParaRPr>
                    </a:p>
                    <a:p>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hMerge="1">
                  <a:txBody>
                    <a:bodyPr/>
                    <a:lstStyle/>
                    <a:p>
                      <a:endParaRPr lang="en-US"/>
                    </a:p>
                  </a:txBody>
                  <a:tcPr/>
                </a:tc>
                <a:tc>
                  <a:txBody>
                    <a:bodyPr/>
                    <a:lstStyle/>
                    <a:p>
                      <a:pPr algn="ctr"/>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86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1743746">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a:cs typeface="Arial"/>
                        </a:rPr>
                        <a:t>How to present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finish designing your poster and are ready to virtually present it, follow the conference organizers' instructions.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a:cs typeface="Arial"/>
                      </a:endParaRP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8073404">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dirty="0">
                          <a:solidFill>
                            <a:srgbClr val="FFC000"/>
                          </a:solidFill>
                          <a:latin typeface="Arial"/>
                          <a:cs typeface="Arial"/>
                        </a:rPr>
                        <a:t>Publish, present virtually, share, and discuss!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Submit your poster and add it to the Research Poster Virtual Library.</a:t>
                      </a:r>
                      <a:br>
                        <a:rPr lang="en-US" sz="2400" b="0" noProof="0" dirty="0">
                          <a:solidFill>
                            <a:srgbClr val="FFC000"/>
                          </a:solidFill>
                          <a:latin typeface="Arial"/>
                          <a:cs typeface="Arial"/>
                        </a:rPr>
                      </a:br>
                      <a:br>
                        <a:rPr lang="en-US" sz="2400" b="0" noProof="0" dirty="0">
                          <a:solidFill>
                            <a:srgbClr val="FFC000"/>
                          </a:solidFill>
                          <a:latin typeface="Arial"/>
                          <a:cs typeface="Arial"/>
                        </a:rPr>
                      </a:br>
                      <a:r>
                        <a:rPr lang="en-US" sz="2400" b="1" noProof="0" dirty="0">
                          <a:solidFill>
                            <a:srgbClr val="FFC000"/>
                          </a:solidFill>
                          <a:latin typeface="Arial"/>
                          <a:cs typeface="Arial"/>
                        </a:rPr>
                        <a:t>Continuous global reach</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Share your research with thousands of students, educators, scientists, and researchers from all over the United States and the World.</a:t>
                      </a:r>
                    </a:p>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Full-featured poster showcase included</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Present your poster on a  professional full-featured and customizable web page that includes full screen functions, social sharing, your own discussion board, private contact form, narration and more.</a:t>
                      </a:r>
                    </a:p>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Convenience for presenter groups and conference coordinators </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Published posters can easily be presented at virtual conferences. Perfect solution for organizers of meetings and conferences.</a:t>
                      </a:r>
                      <a:br>
                        <a:rPr lang="en-US" sz="2400" b="0" noProof="0" dirty="0">
                          <a:solidFill>
                            <a:srgbClr val="FFC000"/>
                          </a:solidFill>
                          <a:latin typeface="Arial"/>
                          <a:cs typeface="Arial"/>
                        </a:rPr>
                      </a:b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a:cs typeface="Arial"/>
                        </a:rPr>
                        <a:t>https://</a:t>
                      </a:r>
                      <a:r>
                        <a:rPr lang="en-US" sz="2900" b="1" noProof="0" dirty="0" err="1">
                          <a:solidFill>
                            <a:srgbClr val="FFC000"/>
                          </a:solidFill>
                          <a:latin typeface="Arial"/>
                          <a:cs typeface="Arial"/>
                        </a:rPr>
                        <a:t>www.PosterPresentations.com</a:t>
                      </a:r>
                      <a:r>
                        <a:rPr lang="en-US" sz="2900" b="1" noProof="0" dirty="0">
                          <a:solidFill>
                            <a:srgbClr val="FFC000"/>
                          </a:solidFill>
                          <a:latin typeface="Arial"/>
                          <a:cs typeface="Arial"/>
                        </a:rPr>
                        <a:t>/research</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1" noProof="0" dirty="0">
                        <a:solidFill>
                          <a:srgbClr val="FFC000"/>
                        </a:solidFill>
                        <a:latin typeface="Arial"/>
                        <a:cs typeface="Arial"/>
                      </a:endParaRPr>
                    </a:p>
                  </a:txBody>
                  <a:tcPr marL="182880" marT="137160">
                    <a:solidFill>
                      <a:srgbClr val="00336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48051497"/>
                  </a:ext>
                </a:extLst>
              </a:tr>
              <a:tr h="1176075">
                <a:tc gridSpan="3">
                  <a:txBody>
                    <a:bodyPr/>
                    <a:lstStyle/>
                    <a:p>
                      <a:endParaRPr lang="en-US" sz="2400" dirty="0">
                        <a:solidFill>
                          <a:srgbClr val="1F3A4E"/>
                        </a:solidFill>
                      </a:endParaRPr>
                    </a:p>
                  </a:txBody>
                  <a:tcPr marL="182880" marT="137160">
                    <a:blipFill dpi="0" rotWithShape="1">
                      <a:blip r:embed="rId11">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500444">
                <a:tc>
                  <a:txBody>
                    <a:bodyPr/>
                    <a:lstStyle/>
                    <a:p>
                      <a:pPr>
                        <a:lnSpc>
                          <a:spcPts val="2600"/>
                        </a:lnSpc>
                      </a:pPr>
                      <a:r>
                        <a:rPr lang="en-US" sz="2100" dirty="0">
                          <a:solidFill>
                            <a:schemeClr val="bg1">
                              <a:lumMod val="85000"/>
                            </a:schemeClr>
                          </a:solidFill>
                          <a:latin typeface="Arial"/>
                          <a:cs typeface="Arial"/>
                        </a:rPr>
                        <a:t>© 2020</a:t>
                      </a:r>
                      <a:r>
                        <a:rPr lang="en-US" sz="2100" baseline="0" dirty="0">
                          <a:solidFill>
                            <a:schemeClr val="bg1">
                              <a:lumMod val="85000"/>
                            </a:schemeClr>
                          </a:solidFill>
                          <a:latin typeface="Arial"/>
                          <a:cs typeface="Arial"/>
                        </a:rPr>
                        <a:t> </a:t>
                      </a:r>
                      <a:r>
                        <a:rPr lang="en-US" sz="2100" dirty="0" err="1">
                          <a:solidFill>
                            <a:schemeClr val="bg1">
                              <a:lumMod val="85000"/>
                            </a:schemeClr>
                          </a:solidFill>
                          <a:latin typeface="Arial"/>
                          <a:cs typeface="Arial"/>
                        </a:rPr>
                        <a:t>PosterPresentations.com</a:t>
                      </a:r>
                      <a:br>
                        <a:rPr lang="en-US" sz="2100" dirty="0">
                          <a:solidFill>
                            <a:schemeClr val="bg1">
                              <a:lumMod val="85000"/>
                            </a:schemeClr>
                          </a:solidFill>
                          <a:latin typeface="Arial"/>
                          <a:cs typeface="Arial"/>
                        </a:rPr>
                      </a:br>
                      <a:r>
                        <a:rPr lang="en-US" sz="2100" dirty="0">
                          <a:solidFill>
                            <a:schemeClr val="bg1">
                              <a:lumMod val="85000"/>
                            </a:schemeClr>
                          </a:solidFill>
                          <a:latin typeface="Arial"/>
                          <a:cs typeface="Arial"/>
                        </a:rPr>
                        <a:t>2117 Fourth Street ,</a:t>
                      </a:r>
                      <a:r>
                        <a:rPr lang="en-US" sz="2100" baseline="0" dirty="0">
                          <a:solidFill>
                            <a:schemeClr val="bg1">
                              <a:lumMod val="85000"/>
                            </a:schemeClr>
                          </a:solidFill>
                          <a:latin typeface="Arial"/>
                          <a:cs typeface="Arial"/>
                        </a:rPr>
                        <a:t> STE C        </a:t>
                      </a:r>
                    </a:p>
                    <a:p>
                      <a:pPr>
                        <a:lnSpc>
                          <a:spcPts val="2600"/>
                        </a:lnSpc>
                      </a:pPr>
                      <a:r>
                        <a:rPr lang="en-US" sz="2100" baseline="0" dirty="0">
                          <a:solidFill>
                            <a:schemeClr val="bg1">
                              <a:lumMod val="85000"/>
                            </a:schemeClr>
                          </a:solidFill>
                          <a:latin typeface="Arial"/>
                          <a:cs typeface="Arial"/>
                        </a:rPr>
                        <a:t>Berkeley CA 94710 USA</a:t>
                      </a:r>
                      <a:endParaRPr lang="en-US" sz="2100" dirty="0">
                        <a:solidFill>
                          <a:schemeClr val="bg1">
                            <a:lumMod val="85000"/>
                          </a:schemeClr>
                        </a:solidFill>
                        <a:latin typeface="Arial"/>
                        <a:cs typeface="Arial"/>
                      </a:endParaRPr>
                    </a:p>
                  </a:txBody>
                  <a:tcPr marL="182880" marT="137160">
                    <a:solidFill>
                      <a:srgbClr val="010101"/>
                    </a:solidFill>
                  </a:tcPr>
                </a:tc>
                <a:tc gridSpan="2">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800" dirty="0">
                        <a:solidFill>
                          <a:schemeClr val="bg1">
                            <a:lumMod val="85000"/>
                          </a:schemeClr>
                        </a:solidFill>
                        <a:latin typeface="Arial"/>
                        <a:cs typeface="Arial"/>
                      </a:endParaRPr>
                    </a:p>
                  </a:txBody>
                  <a:tcPr marL="182880" marT="137160">
                    <a:solidFill>
                      <a:srgbClr val="010101"/>
                    </a:solidFill>
                  </a:tcPr>
                </a:tc>
                <a:tc hMerge="1">
                  <a:txBody>
                    <a:bodyPr/>
                    <a:lstStyle/>
                    <a:p>
                      <a:endParaRPr lang="en-US"/>
                    </a:p>
                  </a:txBody>
                  <a:tcPr/>
                </a:tc>
                <a:extLst>
                  <a:ext uri="{0D108BD9-81ED-4DB2-BD59-A6C34878D82A}">
                    <a16:rowId xmlns:a16="http://schemas.microsoft.com/office/drawing/2014/main" val="10009"/>
                  </a:ext>
                </a:extLst>
              </a:tr>
            </a:tbl>
          </a:graphicData>
        </a:graphic>
      </p:graphicFrame>
      <p:pic>
        <p:nvPicPr>
          <p:cNvPr id="3" name="Picture 2">
            <a:extLst>
              <a:ext uri="{FF2B5EF4-FFF2-40B4-BE49-F238E27FC236}">
                <a16:creationId xmlns:a16="http://schemas.microsoft.com/office/drawing/2014/main" id="{0122D122-A46F-4A64-8521-6A9703AE9046}"/>
              </a:ext>
            </a:extLst>
          </p:cNvPr>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214955" y="325042"/>
            <a:ext cx="2709763" cy="2709763"/>
          </a:xfrm>
          <a:prstGeom prst="rect">
            <a:avLst/>
          </a:prstGeom>
        </p:spPr>
      </p:pic>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 name="Rectangle 39"/>
          <p:cNvSpPr/>
          <p:nvPr userDrawn="1"/>
        </p:nvSpPr>
        <p:spPr>
          <a:xfrm rot="10800000">
            <a:off x="-6419" y="31869601"/>
            <a:ext cx="43891200" cy="1042617"/>
          </a:xfrm>
          <a:prstGeom prst="rect">
            <a:avLst/>
          </a:prstGeom>
          <a:gradFill flip="none" rotWithShape="1">
            <a:gsLst>
              <a:gs pos="0">
                <a:schemeClr val="accent1">
                  <a:tint val="66000"/>
                  <a:satMod val="16000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Box 14"/>
          <p:cNvSpPr txBox="1">
            <a:spLocks noChangeArrowheads="1"/>
          </p:cNvSpPr>
          <p:nvPr/>
        </p:nvSpPr>
        <p:spPr bwMode="auto">
          <a:xfrm>
            <a:off x="1484177" y="32306273"/>
            <a:ext cx="2514600" cy="341436"/>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2019</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39" name="Rectangle 38"/>
          <p:cNvSpPr/>
          <p:nvPr userDrawn="1"/>
        </p:nvSpPr>
        <p:spPr>
          <a:xfrm>
            <a:off x="0" y="-55065"/>
            <a:ext cx="43891200" cy="1042617"/>
          </a:xfrm>
          <a:prstGeom prst="rect">
            <a:avLst/>
          </a:prstGeom>
          <a:gradFill flip="none" rotWithShape="1">
            <a:gsLst>
              <a:gs pos="0">
                <a:schemeClr val="accent1">
                  <a:tint val="66000"/>
                  <a:satMod val="16000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ounded Rectangle 40"/>
          <p:cNvSpPr/>
          <p:nvPr userDrawn="1"/>
        </p:nvSpPr>
        <p:spPr>
          <a:xfrm>
            <a:off x="29382628" y="5392017"/>
            <a:ext cx="13577436" cy="26757874"/>
          </a:xfrm>
          <a:prstGeom prst="roundRect">
            <a:avLst>
              <a:gd name="adj" fmla="val 1956"/>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ounded Rectangle 41"/>
          <p:cNvSpPr/>
          <p:nvPr userDrawn="1"/>
        </p:nvSpPr>
        <p:spPr>
          <a:xfrm>
            <a:off x="15156882" y="5370818"/>
            <a:ext cx="13577436" cy="26779073"/>
          </a:xfrm>
          <a:prstGeom prst="roundRect">
            <a:avLst>
              <a:gd name="adj" fmla="val 1956"/>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ounded Rectangle 42"/>
          <p:cNvSpPr/>
          <p:nvPr userDrawn="1"/>
        </p:nvSpPr>
        <p:spPr>
          <a:xfrm>
            <a:off x="931136" y="5413216"/>
            <a:ext cx="13577436" cy="26736675"/>
          </a:xfrm>
          <a:prstGeom prst="roundRect">
            <a:avLst>
              <a:gd name="adj" fmla="val 1956"/>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p:cNvSpPr/>
          <p:nvPr userDrawn="1"/>
        </p:nvSpPr>
        <p:spPr>
          <a:xfrm>
            <a:off x="6096" y="4742487"/>
            <a:ext cx="43891200" cy="274521"/>
          </a:xfrm>
          <a:prstGeom prst="rect">
            <a:avLst/>
          </a:prstGeom>
          <a:gradFill>
            <a:gsLst>
              <a:gs pos="100000">
                <a:srgbClr val="DAE9F6"/>
              </a:gs>
              <a:gs pos="0">
                <a:schemeClr val="accent1">
                  <a:tint val="66000"/>
                  <a:satMod val="160000"/>
                </a:schemeClr>
              </a:gs>
              <a:gs pos="51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3" name="Table 12">
            <a:extLst>
              <a:ext uri="{FF2B5EF4-FFF2-40B4-BE49-F238E27FC236}">
                <a16:creationId xmlns:a16="http://schemas.microsoft.com/office/drawing/2014/main" id="{C75130E6-6704-644C-A719-D96EFFB272F3}"/>
              </a:ext>
            </a:extLst>
          </p:cNvPr>
          <p:cNvGraphicFramePr>
            <a:graphicFrameLocks noGrp="1"/>
          </p:cNvGraphicFramePr>
          <p:nvPr userDrawn="1">
            <p:extLst>
              <p:ext uri="{D42A27DB-BD31-4B8C-83A1-F6EECF244321}">
                <p14:modId xmlns:p14="http://schemas.microsoft.com/office/powerpoint/2010/main" val="1223353935"/>
              </p:ext>
            </p:extLst>
          </p:nvPr>
        </p:nvGraphicFramePr>
        <p:xfrm>
          <a:off x="-10611120" y="14098"/>
          <a:ext cx="9776869" cy="32679220"/>
        </p:xfrm>
        <a:graphic>
          <a:graphicData uri="http://schemas.openxmlformats.org/drawingml/2006/table">
            <a:tbl>
              <a:tblPr firstRow="1" bandRow="1">
                <a:tableStyleId>{5C22544A-7EE6-4342-B048-85BDC9FD1C3A}</a:tableStyleId>
              </a:tblPr>
              <a:tblGrid>
                <a:gridCol w="4192245">
                  <a:extLst>
                    <a:ext uri="{9D8B030D-6E8A-4147-A177-3AD203B41FA5}">
                      <a16:colId xmlns:a16="http://schemas.microsoft.com/office/drawing/2014/main" val="20000"/>
                    </a:ext>
                  </a:extLst>
                </a:gridCol>
                <a:gridCol w="5584624">
                  <a:extLst>
                    <a:ext uri="{9D8B030D-6E8A-4147-A177-3AD203B41FA5}">
                      <a16:colId xmlns:a16="http://schemas.microsoft.com/office/drawing/2014/main" val="20001"/>
                    </a:ext>
                  </a:extLst>
                </a:gridCol>
              </a:tblGrid>
              <a:tr h="1329113">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3600" b="0" spc="600" dirty="0">
                          <a:solidFill>
                            <a:srgbClr val="1F3A4E"/>
                          </a:solidFill>
                          <a:latin typeface="Arial Black" panose="020B0A04020102020204" pitchFamily="34" charset="0"/>
                        </a:rPr>
                        <a:t>QUICK START GUIDE</a:t>
                      </a:r>
                      <a:br>
                        <a:rPr lang="en-US" sz="3600" b="0" spc="600" dirty="0">
                          <a:solidFill>
                            <a:srgbClr val="1F3A4E"/>
                          </a:solidFill>
                          <a:latin typeface="Arial Black" panose="020B0A04020102020204" pitchFamily="34" charset="0"/>
                        </a:rPr>
                      </a:br>
                      <a:r>
                        <a:rPr lang="en-US" sz="2800" b="1" spc="0" dirty="0">
                          <a:solidFill>
                            <a:srgbClr val="FF0000"/>
                          </a:solidFill>
                          <a:latin typeface="Trebuchet MS" pitchFamily="34" charset="0"/>
                        </a:rPr>
                        <a:t>(THIS SIDEBAR WILL NOT PRINT)</a:t>
                      </a:r>
                      <a:endParaRPr lang="en-US" sz="36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06624">
                <a:tc gridSpan="2">
                  <a:txBody>
                    <a:bodyPr/>
                    <a:lstStyle/>
                    <a:p>
                      <a:pPr defTabSz="3765639"/>
                      <a:r>
                        <a:rPr lang="en-US" sz="2000" i="0" dirty="0">
                          <a:solidFill>
                            <a:srgbClr val="D9D9D9"/>
                          </a:solidFill>
                          <a:latin typeface="Arial"/>
                          <a:cs typeface="Arial"/>
                        </a:rPr>
                        <a:t>This PowerPoint template produces a </a:t>
                      </a:r>
                      <a:r>
                        <a:rPr lang="en-US" sz="2000" i="0" dirty="0">
                          <a:solidFill>
                            <a:srgbClr val="FFC000"/>
                          </a:solidFill>
                          <a:latin typeface="Arial"/>
                          <a:cs typeface="Arial"/>
                        </a:rPr>
                        <a:t>standard screen size (4:3 Ratio) virtual </a:t>
                      </a:r>
                      <a:r>
                        <a:rPr lang="en-US" sz="20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000" i="0" dirty="0">
                        <a:solidFill>
                          <a:srgbClr val="D9D9D9"/>
                        </a:solidFill>
                        <a:latin typeface="Arial"/>
                        <a:cs typeface="Arial"/>
                      </a:endParaRPr>
                    </a:p>
                    <a:p>
                      <a:pPr defTabSz="3765639"/>
                      <a:r>
                        <a:rPr lang="en-US" sz="20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000" i="0" dirty="0" err="1">
                          <a:solidFill>
                            <a:srgbClr val="FFC000"/>
                          </a:solidFill>
                          <a:latin typeface="Arial"/>
                          <a:cs typeface="Arial"/>
                        </a:rPr>
                        <a:t>PosterPresentations.com</a:t>
                      </a:r>
                      <a:r>
                        <a:rPr lang="en-US" sz="2000" i="0" dirty="0">
                          <a:solidFill>
                            <a:srgbClr val="D9D9D9"/>
                          </a:solidFill>
                          <a:latin typeface="Arial"/>
                          <a:cs typeface="Arial"/>
                        </a:rPr>
                        <a:t> and click on the  </a:t>
                      </a:r>
                      <a:r>
                        <a:rPr lang="en-US" sz="2000" i="0" dirty="0">
                          <a:solidFill>
                            <a:srgbClr val="FFC000"/>
                          </a:solidFill>
                          <a:latin typeface="Arial"/>
                          <a:cs typeface="Arial"/>
                        </a:rPr>
                        <a:t>HELP DESK</a:t>
                      </a:r>
                      <a:r>
                        <a:rPr lang="en-US" sz="2000" i="0" baseline="0" dirty="0">
                          <a:solidFill>
                            <a:srgbClr val="D9D9D9"/>
                          </a:solidFill>
                          <a:latin typeface="Arial"/>
                          <a:cs typeface="Arial"/>
                        </a:rPr>
                        <a:t> </a:t>
                      </a:r>
                      <a:r>
                        <a:rPr lang="en-US" sz="2000" i="0" dirty="0">
                          <a:solidFill>
                            <a:srgbClr val="D9D9D9"/>
                          </a:solidFill>
                          <a:latin typeface="Arial"/>
                          <a:cs typeface="Arial"/>
                        </a:rPr>
                        <a:t>tab.</a:t>
                      </a:r>
                    </a:p>
                    <a:p>
                      <a:pPr defTabSz="3765639"/>
                      <a:endParaRPr lang="en-US" sz="2000" i="0" dirty="0">
                        <a:solidFill>
                          <a:srgbClr val="D9D9D9"/>
                        </a:solidFill>
                        <a:latin typeface="Arial"/>
                        <a:cs typeface="Arial"/>
                      </a:endParaRPr>
                    </a:p>
                    <a:p>
                      <a:pPr defTabSz="3765639"/>
                      <a:r>
                        <a:rPr lang="en-US" sz="2000" i="0" dirty="0">
                          <a:solidFill>
                            <a:srgbClr val="D9D9D9"/>
                          </a:solidFill>
                          <a:latin typeface="Arial"/>
                          <a:cs typeface="Arial"/>
                        </a:rPr>
                        <a:t>To print your poster using our same-day professional printing service, go online to </a:t>
                      </a:r>
                      <a:r>
                        <a:rPr lang="en-US" sz="2000" i="0" dirty="0" err="1">
                          <a:solidFill>
                            <a:srgbClr val="FFC000"/>
                          </a:solidFill>
                          <a:latin typeface="Arial"/>
                          <a:cs typeface="Arial"/>
                        </a:rPr>
                        <a:t>PosterPresentations.com</a:t>
                      </a:r>
                      <a:r>
                        <a:rPr lang="en-US" sz="2000" i="0" dirty="0">
                          <a:solidFill>
                            <a:srgbClr val="D9D9D9"/>
                          </a:solidFill>
                          <a:latin typeface="Arial"/>
                          <a:cs typeface="Arial"/>
                        </a:rPr>
                        <a:t> and click on "</a:t>
                      </a:r>
                      <a:r>
                        <a:rPr lang="en-US" sz="2000" i="0" dirty="0">
                          <a:solidFill>
                            <a:srgbClr val="FFC000"/>
                          </a:solidFill>
                          <a:latin typeface="Arial"/>
                          <a:cs typeface="Arial"/>
                        </a:rPr>
                        <a:t>Order your poster</a:t>
                      </a:r>
                      <a:r>
                        <a:rPr lang="en-US" sz="2000" i="0" dirty="0">
                          <a:solidFill>
                            <a:srgbClr val="D9D9D9"/>
                          </a:solidFill>
                          <a:latin typeface="Arial"/>
                          <a:cs typeface="Arial"/>
                        </a:rPr>
                        <a:t>".</a:t>
                      </a:r>
                      <a:endParaRPr lang="en-US" sz="20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4572417">
                <a:tc>
                  <a:txBody>
                    <a:bodyPr/>
                    <a:lstStyle/>
                    <a:p>
                      <a:pPr algn="ctr"/>
                      <a:endParaRPr lang="en-US" sz="2000" dirty="0">
                        <a:solidFill>
                          <a:srgbClr val="1F3A4E"/>
                        </a:solidFill>
                      </a:endParaRPr>
                    </a:p>
                    <a:p>
                      <a:pPr algn="ctr"/>
                      <a:endParaRPr lang="en-US" sz="2000" dirty="0">
                        <a:solidFill>
                          <a:srgbClr val="1F3A4E"/>
                        </a:solidFill>
                      </a:endParaRPr>
                    </a:p>
                    <a:p>
                      <a:pPr algn="ctr"/>
                      <a:r>
                        <a:rPr lang="en-US" sz="2000" dirty="0">
                          <a:solidFill>
                            <a:schemeClr val="bg1"/>
                          </a:solidFill>
                          <a:latin typeface="Arial" panose="020B0604020202020204" pitchFamily="34" charset="0"/>
                          <a:cs typeface="Arial" panose="020B0604020202020204" pitchFamily="34" charset="0"/>
                        </a:rPr>
                        <a:t>This is a template for a </a:t>
                      </a:r>
                    </a:p>
                    <a:p>
                      <a:pPr algn="ctr"/>
                      <a:r>
                        <a:rPr lang="en-US" sz="2000" dirty="0">
                          <a:solidFill>
                            <a:schemeClr val="bg1"/>
                          </a:solidFill>
                          <a:latin typeface="Arial" panose="020B0604020202020204" pitchFamily="34" charset="0"/>
                          <a:cs typeface="Arial" panose="020B0604020202020204" pitchFamily="34" charset="0"/>
                        </a:rPr>
                        <a:t>presentation poster</a:t>
                      </a:r>
                      <a:br>
                        <a:rPr lang="en-US" sz="2000" dirty="0">
                          <a:solidFill>
                            <a:schemeClr val="bg1"/>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Virtual</a:t>
                      </a:r>
                      <a:br>
                        <a:rPr lang="en-US" sz="3600" b="1" dirty="0">
                          <a:solidFill>
                            <a:srgbClr val="FFC000"/>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Standard Size</a:t>
                      </a:r>
                      <a:br>
                        <a:rPr lang="en-US" sz="3600" b="1" dirty="0">
                          <a:solidFill>
                            <a:srgbClr val="FFC000"/>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(4:3 Ratio)</a:t>
                      </a:r>
                      <a:br>
                        <a:rPr lang="en-US" sz="2000" dirty="0">
                          <a:solidFill>
                            <a:schemeClr val="bg1"/>
                          </a:solidFill>
                          <a:latin typeface="Arial" panose="020B0604020202020204" pitchFamily="34" charset="0"/>
                          <a:cs typeface="Arial" panose="020B0604020202020204" pitchFamily="34" charset="0"/>
                        </a:rPr>
                      </a:br>
                      <a:endParaRPr lang="en-US" sz="20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baseline="0" dirty="0">
                          <a:solidFill>
                            <a:srgbClr val="FFC000"/>
                          </a:solidFill>
                          <a:latin typeface="Arial" panose="020B0604020202020204" pitchFamily="34" charset="0"/>
                          <a:cs typeface="Arial" panose="020B0604020202020204" pitchFamily="34" charset="0"/>
                        </a:rPr>
                        <a:t>Important: Check the template size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30 tall x 40 wide</a:t>
                      </a:r>
                    </a:p>
                    <a:p>
                      <a:pPr marL="0" marR="0" indent="0" algn="l" defTabSz="4388900" rtl="0" eaLnBrk="1" fontAlgn="auto" latinLnBrk="0" hangingPunct="1">
                        <a:lnSpc>
                          <a:spcPct val="100000"/>
                        </a:lnSpc>
                        <a:spcBef>
                          <a:spcPts val="0"/>
                        </a:spcBef>
                        <a:spcAft>
                          <a:spcPts val="0"/>
                        </a:spcAft>
                        <a:buClrTx/>
                        <a:buSzTx/>
                        <a:buFontTx/>
                        <a:buNone/>
                        <a:tabLst/>
                        <a:defRPr/>
                      </a:pPr>
                      <a:r>
                        <a:rPr lang="en-US" sz="2000" b="0" baseline="0" dirty="0">
                          <a:solidFill>
                            <a:srgbClr val="FFC000"/>
                          </a:solidFill>
                          <a:latin typeface="Arial" panose="020B0604020202020204" pitchFamily="34" charset="0"/>
                          <a:cs typeface="Arial" panose="020B0604020202020204" pitchFamily="34" charset="0"/>
                        </a:rPr>
                        <a:t>36 tall x 48 wide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42 tall x 56 wide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48 tall x 64 wide</a:t>
                      </a:r>
                    </a:p>
                  </a:txBody>
                  <a:tcPr marL="182880" marT="137160">
                    <a:solidFill>
                      <a:srgbClr val="010101"/>
                    </a:solidFill>
                  </a:tcPr>
                </a:tc>
                <a:extLst>
                  <a:ext uri="{0D108BD9-81ED-4DB2-BD59-A6C34878D82A}">
                    <a16:rowId xmlns:a16="http://schemas.microsoft.com/office/drawing/2014/main" val="10008"/>
                  </a:ext>
                </a:extLst>
              </a:tr>
              <a:tr h="4288692">
                <a:tc>
                  <a:txBody>
                    <a:bodyPr/>
                    <a:lstStyle/>
                    <a:p>
                      <a:endParaRPr lang="en-US" sz="2000" dirty="0">
                        <a:solidFill>
                          <a:srgbClr val="1F3A4E"/>
                        </a:solidFill>
                      </a:endParaRPr>
                    </a:p>
                  </a:txBody>
                  <a:tcPr>
                    <a:blipFill rotWithShape="1">
                      <a:blip r:embed="rId3"/>
                      <a:stretch>
                        <a:fillRect/>
                      </a:stretch>
                    </a:blipFill>
                  </a:tcPr>
                </a:tc>
                <a:tc>
                  <a:txBody>
                    <a:bodyPr/>
                    <a:lstStyle/>
                    <a:p>
                      <a:pPr algn="l"/>
                      <a:r>
                        <a:rPr lang="en-US" sz="2400" b="1" baseline="0" dirty="0">
                          <a:solidFill>
                            <a:srgbClr val="FFC000"/>
                          </a:solidFill>
                          <a:latin typeface="Arial" panose="020B0604020202020204" pitchFamily="34" charset="0"/>
                          <a:cs typeface="Arial" panose="020B0604020202020204" pitchFamily="34" charset="0"/>
                        </a:rPr>
                        <a:t>How to </a:t>
                      </a:r>
                      <a:r>
                        <a:rPr lang="en-US" sz="4000" b="1" baseline="0" dirty="0">
                          <a:solidFill>
                            <a:srgbClr val="FFC000"/>
                          </a:solidFill>
                          <a:latin typeface="Arial" panose="020B0604020202020204" pitchFamily="34" charset="0"/>
                          <a:cs typeface="Arial" panose="020B0604020202020204" pitchFamily="34" charset="0"/>
                        </a:rPr>
                        <a:t>Zoom in </a:t>
                      </a:r>
                      <a:r>
                        <a:rPr lang="en-US" sz="2400" b="1" baseline="0" dirty="0">
                          <a:solidFill>
                            <a:srgbClr val="FFC000"/>
                          </a:solidFill>
                          <a:latin typeface="Arial" panose="020B0604020202020204" pitchFamily="34" charset="0"/>
                          <a:cs typeface="Arial" panose="020B0604020202020204" pitchFamily="34" charset="0"/>
                        </a:rPr>
                        <a:t>and </a:t>
                      </a:r>
                      <a:r>
                        <a:rPr lang="en-US" sz="1800" b="1" baseline="0" dirty="0">
                          <a:solidFill>
                            <a:srgbClr val="FFC000"/>
                          </a:solidFill>
                          <a:latin typeface="Arial" panose="020B0604020202020204" pitchFamily="34" charset="0"/>
                          <a:cs typeface="Arial" panose="020B0604020202020204" pitchFamily="34" charset="0"/>
                        </a:rPr>
                        <a:t>out</a:t>
                      </a:r>
                      <a:endParaRPr lang="en-US" sz="2400" b="1" baseline="0" dirty="0">
                        <a:solidFill>
                          <a:srgbClr val="FFC000"/>
                        </a:solidFill>
                        <a:latin typeface="Arial" panose="020B0604020202020204" pitchFamily="34" charset="0"/>
                        <a:cs typeface="Arial" panose="020B0604020202020204" pitchFamily="34" charset="0"/>
                      </a:endParaRPr>
                    </a:p>
                    <a:p>
                      <a:pPr algn="l"/>
                      <a:r>
                        <a:rPr lang="en-US" sz="20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1. </a:t>
                      </a:r>
                      <a:r>
                        <a:rPr lang="en-US" sz="20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2. </a:t>
                      </a:r>
                      <a:r>
                        <a:rPr lang="en-US" sz="20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1800526">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400" b="1" baseline="0" dirty="0">
                          <a:solidFill>
                            <a:srgbClr val="FFC000"/>
                          </a:solidFill>
                          <a:latin typeface="Arial" panose="020B0604020202020204" pitchFamily="34" charset="0"/>
                          <a:cs typeface="Arial" panose="020B0604020202020204" pitchFamily="34" charset="0"/>
                        </a:rPr>
                        <a:t>Ruler and Guides</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3824339">
                <a:tc>
                  <a:txBody>
                    <a:bodyPr/>
                    <a:lstStyle/>
                    <a:p>
                      <a:endParaRPr lang="en-US" sz="2000" dirty="0">
                        <a:solidFill>
                          <a:srgbClr val="1F3A4E"/>
                        </a:solidFill>
                      </a:endParaRPr>
                    </a:p>
                  </a:txBody>
                  <a:tcPr>
                    <a:blipFill rotWithShape="1">
                      <a:blip r:embed="rId4"/>
                      <a:stretch>
                        <a:fillRect/>
                      </a:stretch>
                    </a:blipFill>
                  </a:tcPr>
                </a:tc>
                <a:tc>
                  <a:txBody>
                    <a:bodyPr/>
                    <a:lstStyle/>
                    <a:p>
                      <a:pPr marL="0" lvl="1" indent="0" algn="l" defTabSz="114300"/>
                      <a:r>
                        <a:rPr lang="en-US" sz="2400" b="1" baseline="0" dirty="0">
                          <a:solidFill>
                            <a:srgbClr val="FFC000"/>
                          </a:solidFill>
                          <a:latin typeface="Arial" panose="020B0604020202020204" pitchFamily="34" charset="0"/>
                          <a:cs typeface="Arial" panose="020B0604020202020204" pitchFamily="34" charset="0"/>
                        </a:rPr>
                        <a:t>Headers and text containers</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519135">
                <a:tc gridSpan="2">
                  <a:txBody>
                    <a:bodyPr/>
                    <a:lstStyle/>
                    <a:p>
                      <a:r>
                        <a:rPr lang="en-US" sz="2400" b="1" dirty="0">
                          <a:solidFill>
                            <a:srgbClr val="FFC000"/>
                          </a:solidFill>
                          <a:latin typeface="Arial" panose="020B0604020202020204" pitchFamily="34" charset="0"/>
                          <a:cs typeface="Arial" panose="020B0604020202020204" pitchFamily="34" charset="0"/>
                        </a:rPr>
                        <a:t>Adding content to the poster</a:t>
                      </a:r>
                    </a:p>
                    <a:p>
                      <a:r>
                        <a:rPr lang="en-US" sz="20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0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0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377657">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93170">
                <a:tc gridSpan="2">
                  <a:txBody>
                    <a:bodyPr/>
                    <a:lstStyle/>
                    <a:p>
                      <a:endParaRPr lang="en-US" sz="20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280277">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0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187270">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0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aphicFrame>
        <p:nvGraphicFramePr>
          <p:cNvPr id="12" name="Table 11">
            <a:extLst>
              <a:ext uri="{FF2B5EF4-FFF2-40B4-BE49-F238E27FC236}">
                <a16:creationId xmlns:a16="http://schemas.microsoft.com/office/drawing/2014/main" id="{2381AE59-5942-394D-8867-C092283E8235}"/>
              </a:ext>
            </a:extLst>
          </p:cNvPr>
          <p:cNvGraphicFramePr>
            <a:graphicFrameLocks noGrp="1"/>
          </p:cNvGraphicFramePr>
          <p:nvPr userDrawn="1">
            <p:extLst>
              <p:ext uri="{D42A27DB-BD31-4B8C-83A1-F6EECF244321}">
                <p14:modId xmlns:p14="http://schemas.microsoft.com/office/powerpoint/2010/main" val="141159618"/>
              </p:ext>
            </p:extLst>
          </p:nvPr>
        </p:nvGraphicFramePr>
        <p:xfrm>
          <a:off x="44635119" y="14098"/>
          <a:ext cx="9619281" cy="32847657"/>
        </p:xfrm>
        <a:graphic>
          <a:graphicData uri="http://schemas.openxmlformats.org/drawingml/2006/table">
            <a:tbl>
              <a:tblPr firstRow="1" bandRow="1">
                <a:tableStyleId>{5C22544A-7EE6-4342-B048-85BDC9FD1C3A}</a:tableStyleId>
              </a:tblPr>
              <a:tblGrid>
                <a:gridCol w="3585856">
                  <a:extLst>
                    <a:ext uri="{9D8B030D-6E8A-4147-A177-3AD203B41FA5}">
                      <a16:colId xmlns:a16="http://schemas.microsoft.com/office/drawing/2014/main" val="20000"/>
                    </a:ext>
                  </a:extLst>
                </a:gridCol>
                <a:gridCol w="1199648">
                  <a:extLst>
                    <a:ext uri="{9D8B030D-6E8A-4147-A177-3AD203B41FA5}">
                      <a16:colId xmlns:a16="http://schemas.microsoft.com/office/drawing/2014/main" val="997673227"/>
                    </a:ext>
                  </a:extLst>
                </a:gridCol>
                <a:gridCol w="4833777">
                  <a:extLst>
                    <a:ext uri="{9D8B030D-6E8A-4147-A177-3AD203B41FA5}">
                      <a16:colId xmlns:a16="http://schemas.microsoft.com/office/drawing/2014/main" val="4164475170"/>
                    </a:ext>
                  </a:extLst>
                </a:gridCol>
              </a:tblGrid>
              <a:tr h="1296236">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076923">
                <a:tc gridSpan="3">
                  <a:txBody>
                    <a:bodyPr/>
                    <a:lstStyle/>
                    <a:p>
                      <a:pPr algn="l"/>
                      <a:r>
                        <a:rPr lang="en-US" sz="29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sz="2400" dirty="0">
                        <a:solidFill>
                          <a:srgbClr val="1F3A4E"/>
                        </a:solidFill>
                      </a:endParaRPr>
                    </a:p>
                  </a:txBody>
                  <a:tcPr marL="182880" marT="137160">
                    <a:blipFill rotWithShape="1">
                      <a:blip r:embed="rId8"/>
                      <a:stretch>
                        <a:fillRect/>
                      </a:stretch>
                    </a:blipFill>
                  </a:tcPr>
                </a:tc>
                <a:tc hMerge="1">
                  <a:txBody>
                    <a:bodyPr/>
                    <a:lstStyle/>
                    <a:p>
                      <a:endParaRPr lang="en-US"/>
                    </a:p>
                  </a:txBody>
                  <a:tcPr/>
                </a:tc>
                <a:extLst>
                  <a:ext uri="{0D108BD9-81ED-4DB2-BD59-A6C34878D82A}">
                    <a16:rowId xmlns:a16="http://schemas.microsoft.com/office/drawing/2014/main" val="10001"/>
                  </a:ext>
                </a:extLst>
              </a:tr>
              <a:tr h="2854805">
                <a:tc gridSpan="3">
                  <a:txBody>
                    <a:bodyPr/>
                    <a:lstStyle/>
                    <a:p>
                      <a:r>
                        <a:rPr lang="en-US" sz="29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8600" u="sng" dirty="0">
                        <a:solidFill>
                          <a:srgbClr val="FFC000"/>
                        </a:solidFill>
                      </a:endParaRPr>
                    </a:p>
                  </a:txBody>
                  <a:tcPr marL="182880" marT="137160">
                    <a:solidFill>
                      <a:schemeClr val="tx1"/>
                    </a:solidFill>
                  </a:tcPr>
                </a:tc>
                <a:tc hMerge="1">
                  <a:txBody>
                    <a:bodyPr/>
                    <a:lstStyle/>
                    <a:p>
                      <a:endParaRPr lang="en-US" sz="2400" dirty="0">
                        <a:solidFill>
                          <a:srgbClr val="1F3A4E"/>
                        </a:solidFill>
                      </a:endParaRPr>
                    </a:p>
                  </a:txBody>
                  <a:tcPr marL="182880" marT="137160">
                    <a:blipFill rotWithShape="1">
                      <a:blip r:embed="rId9"/>
                      <a:stretch>
                        <a:fillRect/>
                      </a:stretch>
                    </a:blipFill>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35361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10">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row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391719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a:txBody>
                    <a:bodyPr/>
                    <a:lstStyle/>
                    <a:p>
                      <a:endParaRPr lang="en-US"/>
                    </a:p>
                  </a:txBody>
                  <a:tcPr/>
                </a:tc>
                <a:tc vMerge="1">
                  <a:txBody>
                    <a:bodyPr/>
                    <a:lstStyle/>
                    <a:p>
                      <a:endParaRPr lang="en-US"/>
                    </a:p>
                  </a:txBody>
                  <a:tcPr/>
                </a:tc>
                <a:extLst>
                  <a:ext uri="{0D108BD9-81ED-4DB2-BD59-A6C34878D82A}">
                    <a16:rowId xmlns:a16="http://schemas.microsoft.com/office/drawing/2014/main" val="1766341567"/>
                  </a:ext>
                </a:extLst>
              </a:tr>
              <a:tr h="3672668">
                <a:tc gridSpan="2">
                  <a:txBody>
                    <a:bodyPr/>
                    <a:lstStyle/>
                    <a:p>
                      <a:r>
                        <a:rPr lang="en-US" sz="2900" b="1" dirty="0">
                          <a:solidFill>
                            <a:srgbClr val="FFC000"/>
                          </a:solidFill>
                          <a:latin typeface="Arial" panose="020B0604020202020204" pitchFamily="34" charset="0"/>
                          <a:cs typeface="Arial" panose="020B0604020202020204" pitchFamily="34" charset="0"/>
                        </a:rPr>
                        <a:t>How to</a:t>
                      </a:r>
                      <a:r>
                        <a:rPr lang="en-US" sz="2900" b="1" baseline="0" dirty="0">
                          <a:solidFill>
                            <a:srgbClr val="FFC000"/>
                          </a:solidFill>
                          <a:latin typeface="Arial" panose="020B0604020202020204" pitchFamily="34" charset="0"/>
                          <a:cs typeface="Arial" panose="020B0604020202020204" pitchFamily="34" charset="0"/>
                        </a:rPr>
                        <a:t> preview your poster prior to presenting</a:t>
                      </a:r>
                      <a:endParaRPr lang="en-US" sz="2900" b="1" dirty="0">
                        <a:solidFill>
                          <a:srgbClr val="FFC000"/>
                        </a:solidFill>
                        <a:latin typeface="Arial" panose="020B0604020202020204" pitchFamily="34" charset="0"/>
                        <a:cs typeface="Arial" panose="020B0604020202020204" pitchFamily="34" charset="0"/>
                      </a:endParaRPr>
                    </a:p>
                    <a:p>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hMerge="1">
                  <a:txBody>
                    <a:bodyPr/>
                    <a:lstStyle/>
                    <a:p>
                      <a:endParaRPr lang="en-US"/>
                    </a:p>
                  </a:txBody>
                  <a:tcPr/>
                </a:tc>
                <a:tc>
                  <a:txBody>
                    <a:bodyPr/>
                    <a:lstStyle/>
                    <a:p>
                      <a:pPr algn="ctr"/>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86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1743746">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a:cs typeface="Arial"/>
                        </a:rPr>
                        <a:t>How to present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finish designing your poster and are ready to virtually present it, follow the conference organizers' instructions.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a:cs typeface="Arial"/>
                      </a:endParaRP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8073404">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dirty="0">
                          <a:solidFill>
                            <a:srgbClr val="FFC000"/>
                          </a:solidFill>
                          <a:latin typeface="Arial"/>
                          <a:cs typeface="Arial"/>
                        </a:rPr>
                        <a:t>Publish, present virtually, share, and discuss!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Submit your poster and add it to the Research Poster Virtual Library.</a:t>
                      </a:r>
                      <a:br>
                        <a:rPr lang="en-US" sz="2400" b="0" noProof="0" dirty="0">
                          <a:solidFill>
                            <a:srgbClr val="FFC000"/>
                          </a:solidFill>
                          <a:latin typeface="Arial"/>
                          <a:cs typeface="Arial"/>
                        </a:rPr>
                      </a:br>
                      <a:br>
                        <a:rPr lang="en-US" sz="2400" b="0" noProof="0" dirty="0">
                          <a:solidFill>
                            <a:srgbClr val="FFC000"/>
                          </a:solidFill>
                          <a:latin typeface="Arial"/>
                          <a:cs typeface="Arial"/>
                        </a:rPr>
                      </a:br>
                      <a:r>
                        <a:rPr lang="en-US" sz="2400" b="1" noProof="0" dirty="0">
                          <a:solidFill>
                            <a:srgbClr val="FFC000"/>
                          </a:solidFill>
                          <a:latin typeface="Arial"/>
                          <a:cs typeface="Arial"/>
                        </a:rPr>
                        <a:t>Continuous global reach</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Share your research with thousands of students, educators, scientists, and researchers from all over the United States and the World.</a:t>
                      </a:r>
                    </a:p>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Full-featured poster showcase included</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Present your poster on a  professional full-featured and customizable web page that includes full screen functions, social sharing, your own discussion board, private contact form, narration and more.</a:t>
                      </a:r>
                    </a:p>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Convenience for presenter groups and conference coordinators </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Published posters can easily be presented at virtual conferences. Perfect solution for organizers of meetings and conferences.</a:t>
                      </a:r>
                      <a:br>
                        <a:rPr lang="en-US" sz="2400" b="0" noProof="0" dirty="0">
                          <a:solidFill>
                            <a:srgbClr val="FFC000"/>
                          </a:solidFill>
                          <a:latin typeface="Arial"/>
                          <a:cs typeface="Arial"/>
                        </a:rPr>
                      </a:b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a:cs typeface="Arial"/>
                        </a:rPr>
                        <a:t>https://</a:t>
                      </a:r>
                      <a:r>
                        <a:rPr lang="en-US" sz="2900" b="1" noProof="0" dirty="0" err="1">
                          <a:solidFill>
                            <a:srgbClr val="FFC000"/>
                          </a:solidFill>
                          <a:latin typeface="Arial"/>
                          <a:cs typeface="Arial"/>
                        </a:rPr>
                        <a:t>www.PosterPresentations.com</a:t>
                      </a:r>
                      <a:r>
                        <a:rPr lang="en-US" sz="2900" b="1" noProof="0" dirty="0">
                          <a:solidFill>
                            <a:srgbClr val="FFC000"/>
                          </a:solidFill>
                          <a:latin typeface="Arial"/>
                          <a:cs typeface="Arial"/>
                        </a:rPr>
                        <a:t>/research</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1" noProof="0" dirty="0">
                        <a:solidFill>
                          <a:srgbClr val="FFC000"/>
                        </a:solidFill>
                        <a:latin typeface="Arial"/>
                        <a:cs typeface="Arial"/>
                      </a:endParaRPr>
                    </a:p>
                  </a:txBody>
                  <a:tcPr marL="182880" marT="137160">
                    <a:solidFill>
                      <a:srgbClr val="00336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48051497"/>
                  </a:ext>
                </a:extLst>
              </a:tr>
              <a:tr h="1176075">
                <a:tc gridSpan="3">
                  <a:txBody>
                    <a:bodyPr/>
                    <a:lstStyle/>
                    <a:p>
                      <a:endParaRPr lang="en-US" sz="2400" dirty="0">
                        <a:solidFill>
                          <a:srgbClr val="1F3A4E"/>
                        </a:solidFill>
                      </a:endParaRPr>
                    </a:p>
                  </a:txBody>
                  <a:tcPr marL="182880" marT="137160">
                    <a:blipFill dpi="0" rotWithShape="1">
                      <a:blip r:embed="rId11">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500444">
                <a:tc>
                  <a:txBody>
                    <a:bodyPr/>
                    <a:lstStyle/>
                    <a:p>
                      <a:pPr>
                        <a:lnSpc>
                          <a:spcPts val="2600"/>
                        </a:lnSpc>
                      </a:pPr>
                      <a:r>
                        <a:rPr lang="en-US" sz="2100" dirty="0">
                          <a:solidFill>
                            <a:schemeClr val="bg1">
                              <a:lumMod val="85000"/>
                            </a:schemeClr>
                          </a:solidFill>
                          <a:latin typeface="Arial"/>
                          <a:cs typeface="Arial"/>
                        </a:rPr>
                        <a:t>© 2020</a:t>
                      </a:r>
                      <a:r>
                        <a:rPr lang="en-US" sz="2100" baseline="0" dirty="0">
                          <a:solidFill>
                            <a:schemeClr val="bg1">
                              <a:lumMod val="85000"/>
                            </a:schemeClr>
                          </a:solidFill>
                          <a:latin typeface="Arial"/>
                          <a:cs typeface="Arial"/>
                        </a:rPr>
                        <a:t> </a:t>
                      </a:r>
                      <a:r>
                        <a:rPr lang="en-US" sz="2100" dirty="0" err="1">
                          <a:solidFill>
                            <a:schemeClr val="bg1">
                              <a:lumMod val="85000"/>
                            </a:schemeClr>
                          </a:solidFill>
                          <a:latin typeface="Arial"/>
                          <a:cs typeface="Arial"/>
                        </a:rPr>
                        <a:t>PosterPresentations.com</a:t>
                      </a:r>
                      <a:br>
                        <a:rPr lang="en-US" sz="2100" dirty="0">
                          <a:solidFill>
                            <a:schemeClr val="bg1">
                              <a:lumMod val="85000"/>
                            </a:schemeClr>
                          </a:solidFill>
                          <a:latin typeface="Arial"/>
                          <a:cs typeface="Arial"/>
                        </a:rPr>
                      </a:br>
                      <a:r>
                        <a:rPr lang="en-US" sz="2100" dirty="0">
                          <a:solidFill>
                            <a:schemeClr val="bg1">
                              <a:lumMod val="85000"/>
                            </a:schemeClr>
                          </a:solidFill>
                          <a:latin typeface="Arial"/>
                          <a:cs typeface="Arial"/>
                        </a:rPr>
                        <a:t>2117 Fourth Street ,</a:t>
                      </a:r>
                      <a:r>
                        <a:rPr lang="en-US" sz="2100" baseline="0" dirty="0">
                          <a:solidFill>
                            <a:schemeClr val="bg1">
                              <a:lumMod val="85000"/>
                            </a:schemeClr>
                          </a:solidFill>
                          <a:latin typeface="Arial"/>
                          <a:cs typeface="Arial"/>
                        </a:rPr>
                        <a:t> STE C        </a:t>
                      </a:r>
                    </a:p>
                    <a:p>
                      <a:pPr>
                        <a:lnSpc>
                          <a:spcPts val="2600"/>
                        </a:lnSpc>
                      </a:pPr>
                      <a:r>
                        <a:rPr lang="en-US" sz="2100" baseline="0" dirty="0">
                          <a:solidFill>
                            <a:schemeClr val="bg1">
                              <a:lumMod val="85000"/>
                            </a:schemeClr>
                          </a:solidFill>
                          <a:latin typeface="Arial"/>
                          <a:cs typeface="Arial"/>
                        </a:rPr>
                        <a:t>Berkeley CA 94710 USA</a:t>
                      </a:r>
                      <a:endParaRPr lang="en-US" sz="2100" dirty="0">
                        <a:solidFill>
                          <a:schemeClr val="bg1">
                            <a:lumMod val="85000"/>
                          </a:schemeClr>
                        </a:solidFill>
                        <a:latin typeface="Arial"/>
                        <a:cs typeface="Arial"/>
                      </a:endParaRPr>
                    </a:p>
                  </a:txBody>
                  <a:tcPr marL="182880" marT="137160">
                    <a:solidFill>
                      <a:srgbClr val="010101"/>
                    </a:solidFill>
                  </a:tcPr>
                </a:tc>
                <a:tc gridSpan="2">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800" dirty="0">
                        <a:solidFill>
                          <a:schemeClr val="bg1">
                            <a:lumMod val="85000"/>
                          </a:schemeClr>
                        </a:solidFill>
                        <a:latin typeface="Arial"/>
                        <a:cs typeface="Arial"/>
                      </a:endParaRPr>
                    </a:p>
                  </a:txBody>
                  <a:tcPr marL="182880" marT="137160">
                    <a:solidFill>
                      <a:srgbClr val="010101"/>
                    </a:solidFill>
                  </a:tcPr>
                </a:tc>
                <a:tc hMerge="1">
                  <a:txBody>
                    <a:bodyPr/>
                    <a:lstStyle/>
                    <a:p>
                      <a:endParaRPr lang="en-US"/>
                    </a:p>
                  </a:txBody>
                  <a:tcPr/>
                </a:tc>
                <a:extLst>
                  <a:ext uri="{0D108BD9-81ED-4DB2-BD59-A6C34878D82A}">
                    <a16:rowId xmlns:a16="http://schemas.microsoft.com/office/drawing/2014/main" val="10009"/>
                  </a:ext>
                </a:extLst>
              </a:tr>
            </a:tbl>
          </a:graphicData>
        </a:graphic>
      </p:graphicFrame>
      <p:pic>
        <p:nvPicPr>
          <p:cNvPr id="2" name="Picture 1">
            <a:extLst>
              <a:ext uri="{FF2B5EF4-FFF2-40B4-BE49-F238E27FC236}">
                <a16:creationId xmlns:a16="http://schemas.microsoft.com/office/drawing/2014/main" id="{6FB69535-EDF1-488D-A1B1-881C96D4A01C}"/>
              </a:ext>
            </a:extLst>
          </p:cNvPr>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214955" y="325042"/>
            <a:ext cx="2709763" cy="2709763"/>
          </a:xfrm>
          <a:prstGeom prst="rect">
            <a:avLst/>
          </a:prstGeom>
        </p:spPr>
      </p:pic>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 name="Text Box 14"/>
          <p:cNvSpPr txBox="1">
            <a:spLocks noChangeArrowheads="1"/>
          </p:cNvSpPr>
          <p:nvPr/>
        </p:nvSpPr>
        <p:spPr bwMode="auto">
          <a:xfrm>
            <a:off x="1484177" y="32232601"/>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2012</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37" name="Rectangle 36"/>
          <p:cNvSpPr/>
          <p:nvPr userDrawn="1"/>
        </p:nvSpPr>
        <p:spPr>
          <a:xfrm rot="10800000">
            <a:off x="-6419" y="31869601"/>
            <a:ext cx="43891200" cy="1042617"/>
          </a:xfrm>
          <a:prstGeom prst="rect">
            <a:avLst/>
          </a:prstGeom>
          <a:gradFill flip="none" rotWithShape="1">
            <a:gsLst>
              <a:gs pos="0">
                <a:schemeClr val="accent1">
                  <a:tint val="66000"/>
                  <a:satMod val="16000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p:cNvSpPr/>
          <p:nvPr userDrawn="1"/>
        </p:nvSpPr>
        <p:spPr>
          <a:xfrm>
            <a:off x="0" y="-55065"/>
            <a:ext cx="43891200" cy="1042617"/>
          </a:xfrm>
          <a:prstGeom prst="rect">
            <a:avLst/>
          </a:prstGeom>
          <a:gradFill flip="none" rotWithShape="1">
            <a:gsLst>
              <a:gs pos="0">
                <a:schemeClr val="accent1">
                  <a:tint val="66000"/>
                  <a:satMod val="16000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userDrawn="1"/>
        </p:nvSpPr>
        <p:spPr>
          <a:xfrm>
            <a:off x="6096" y="4742487"/>
            <a:ext cx="43891200" cy="274521"/>
          </a:xfrm>
          <a:prstGeom prst="rect">
            <a:avLst/>
          </a:prstGeom>
          <a:gradFill>
            <a:gsLst>
              <a:gs pos="100000">
                <a:srgbClr val="DAE9F6"/>
              </a:gs>
              <a:gs pos="0">
                <a:schemeClr val="accent1">
                  <a:tint val="66000"/>
                  <a:satMod val="160000"/>
                </a:schemeClr>
              </a:gs>
              <a:gs pos="51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 Box 14"/>
          <p:cNvSpPr txBox="1">
            <a:spLocks noChangeArrowheads="1"/>
          </p:cNvSpPr>
          <p:nvPr userDrawn="1"/>
        </p:nvSpPr>
        <p:spPr bwMode="auto">
          <a:xfrm>
            <a:off x="1484177" y="32306273"/>
            <a:ext cx="2514600" cy="341436"/>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2019</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graphicFrame>
        <p:nvGraphicFramePr>
          <p:cNvPr id="11" name="Table 10">
            <a:extLst>
              <a:ext uri="{FF2B5EF4-FFF2-40B4-BE49-F238E27FC236}">
                <a16:creationId xmlns:a16="http://schemas.microsoft.com/office/drawing/2014/main" id="{C1C9EC77-7FF5-5E4F-9D40-E8ECD338CE67}"/>
              </a:ext>
            </a:extLst>
          </p:cNvPr>
          <p:cNvGraphicFramePr>
            <a:graphicFrameLocks noGrp="1"/>
          </p:cNvGraphicFramePr>
          <p:nvPr userDrawn="1">
            <p:extLst>
              <p:ext uri="{D42A27DB-BD31-4B8C-83A1-F6EECF244321}">
                <p14:modId xmlns:p14="http://schemas.microsoft.com/office/powerpoint/2010/main" val="1223353935"/>
              </p:ext>
            </p:extLst>
          </p:nvPr>
        </p:nvGraphicFramePr>
        <p:xfrm>
          <a:off x="-10611120" y="14098"/>
          <a:ext cx="9776869" cy="32679220"/>
        </p:xfrm>
        <a:graphic>
          <a:graphicData uri="http://schemas.openxmlformats.org/drawingml/2006/table">
            <a:tbl>
              <a:tblPr firstRow="1" bandRow="1">
                <a:tableStyleId>{5C22544A-7EE6-4342-B048-85BDC9FD1C3A}</a:tableStyleId>
              </a:tblPr>
              <a:tblGrid>
                <a:gridCol w="4192245">
                  <a:extLst>
                    <a:ext uri="{9D8B030D-6E8A-4147-A177-3AD203B41FA5}">
                      <a16:colId xmlns:a16="http://schemas.microsoft.com/office/drawing/2014/main" val="20000"/>
                    </a:ext>
                  </a:extLst>
                </a:gridCol>
                <a:gridCol w="5584624">
                  <a:extLst>
                    <a:ext uri="{9D8B030D-6E8A-4147-A177-3AD203B41FA5}">
                      <a16:colId xmlns:a16="http://schemas.microsoft.com/office/drawing/2014/main" val="20001"/>
                    </a:ext>
                  </a:extLst>
                </a:gridCol>
              </a:tblGrid>
              <a:tr h="1329113">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3600" b="0" spc="600" dirty="0">
                          <a:solidFill>
                            <a:srgbClr val="1F3A4E"/>
                          </a:solidFill>
                          <a:latin typeface="Arial Black" panose="020B0A04020102020204" pitchFamily="34" charset="0"/>
                        </a:rPr>
                        <a:t>QUICK START GUIDE</a:t>
                      </a:r>
                      <a:br>
                        <a:rPr lang="en-US" sz="3600" b="0" spc="600" dirty="0">
                          <a:solidFill>
                            <a:srgbClr val="1F3A4E"/>
                          </a:solidFill>
                          <a:latin typeface="Arial Black" panose="020B0A04020102020204" pitchFamily="34" charset="0"/>
                        </a:rPr>
                      </a:br>
                      <a:r>
                        <a:rPr lang="en-US" sz="2800" b="1" spc="0" dirty="0">
                          <a:solidFill>
                            <a:srgbClr val="FF0000"/>
                          </a:solidFill>
                          <a:latin typeface="Trebuchet MS" pitchFamily="34" charset="0"/>
                        </a:rPr>
                        <a:t>(THIS SIDEBAR WILL NOT PRINT)</a:t>
                      </a:r>
                      <a:endParaRPr lang="en-US" sz="36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06624">
                <a:tc gridSpan="2">
                  <a:txBody>
                    <a:bodyPr/>
                    <a:lstStyle/>
                    <a:p>
                      <a:pPr defTabSz="3765639"/>
                      <a:r>
                        <a:rPr lang="en-US" sz="2000" i="0" dirty="0">
                          <a:solidFill>
                            <a:srgbClr val="D9D9D9"/>
                          </a:solidFill>
                          <a:latin typeface="Arial"/>
                          <a:cs typeface="Arial"/>
                        </a:rPr>
                        <a:t>This PowerPoint template produces a </a:t>
                      </a:r>
                      <a:r>
                        <a:rPr lang="en-US" sz="2000" i="0" dirty="0">
                          <a:solidFill>
                            <a:srgbClr val="FFC000"/>
                          </a:solidFill>
                          <a:latin typeface="Arial"/>
                          <a:cs typeface="Arial"/>
                        </a:rPr>
                        <a:t>standard screen size (4:3 Ratio) virtual </a:t>
                      </a:r>
                      <a:r>
                        <a:rPr lang="en-US" sz="20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000" i="0" dirty="0">
                        <a:solidFill>
                          <a:srgbClr val="D9D9D9"/>
                        </a:solidFill>
                        <a:latin typeface="Arial"/>
                        <a:cs typeface="Arial"/>
                      </a:endParaRPr>
                    </a:p>
                    <a:p>
                      <a:pPr defTabSz="3765639"/>
                      <a:r>
                        <a:rPr lang="en-US" sz="20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000" i="0" dirty="0" err="1">
                          <a:solidFill>
                            <a:srgbClr val="FFC000"/>
                          </a:solidFill>
                          <a:latin typeface="Arial"/>
                          <a:cs typeface="Arial"/>
                        </a:rPr>
                        <a:t>PosterPresentations.com</a:t>
                      </a:r>
                      <a:r>
                        <a:rPr lang="en-US" sz="2000" i="0" dirty="0">
                          <a:solidFill>
                            <a:srgbClr val="D9D9D9"/>
                          </a:solidFill>
                          <a:latin typeface="Arial"/>
                          <a:cs typeface="Arial"/>
                        </a:rPr>
                        <a:t> and click on the  </a:t>
                      </a:r>
                      <a:r>
                        <a:rPr lang="en-US" sz="2000" i="0" dirty="0">
                          <a:solidFill>
                            <a:srgbClr val="FFC000"/>
                          </a:solidFill>
                          <a:latin typeface="Arial"/>
                          <a:cs typeface="Arial"/>
                        </a:rPr>
                        <a:t>HELP DESK</a:t>
                      </a:r>
                      <a:r>
                        <a:rPr lang="en-US" sz="2000" i="0" baseline="0" dirty="0">
                          <a:solidFill>
                            <a:srgbClr val="D9D9D9"/>
                          </a:solidFill>
                          <a:latin typeface="Arial"/>
                          <a:cs typeface="Arial"/>
                        </a:rPr>
                        <a:t> </a:t>
                      </a:r>
                      <a:r>
                        <a:rPr lang="en-US" sz="2000" i="0" dirty="0">
                          <a:solidFill>
                            <a:srgbClr val="D9D9D9"/>
                          </a:solidFill>
                          <a:latin typeface="Arial"/>
                          <a:cs typeface="Arial"/>
                        </a:rPr>
                        <a:t>tab.</a:t>
                      </a:r>
                    </a:p>
                    <a:p>
                      <a:pPr defTabSz="3765639"/>
                      <a:endParaRPr lang="en-US" sz="2000" i="0" dirty="0">
                        <a:solidFill>
                          <a:srgbClr val="D9D9D9"/>
                        </a:solidFill>
                        <a:latin typeface="Arial"/>
                        <a:cs typeface="Arial"/>
                      </a:endParaRPr>
                    </a:p>
                    <a:p>
                      <a:pPr defTabSz="3765639"/>
                      <a:r>
                        <a:rPr lang="en-US" sz="2000" i="0" dirty="0">
                          <a:solidFill>
                            <a:srgbClr val="D9D9D9"/>
                          </a:solidFill>
                          <a:latin typeface="Arial"/>
                          <a:cs typeface="Arial"/>
                        </a:rPr>
                        <a:t>To print your poster using our same-day professional printing service, go online to </a:t>
                      </a:r>
                      <a:r>
                        <a:rPr lang="en-US" sz="2000" i="0" dirty="0" err="1">
                          <a:solidFill>
                            <a:srgbClr val="FFC000"/>
                          </a:solidFill>
                          <a:latin typeface="Arial"/>
                          <a:cs typeface="Arial"/>
                        </a:rPr>
                        <a:t>PosterPresentations.com</a:t>
                      </a:r>
                      <a:r>
                        <a:rPr lang="en-US" sz="2000" i="0" dirty="0">
                          <a:solidFill>
                            <a:srgbClr val="D9D9D9"/>
                          </a:solidFill>
                          <a:latin typeface="Arial"/>
                          <a:cs typeface="Arial"/>
                        </a:rPr>
                        <a:t> and click on "</a:t>
                      </a:r>
                      <a:r>
                        <a:rPr lang="en-US" sz="2000" i="0" dirty="0">
                          <a:solidFill>
                            <a:srgbClr val="FFC000"/>
                          </a:solidFill>
                          <a:latin typeface="Arial"/>
                          <a:cs typeface="Arial"/>
                        </a:rPr>
                        <a:t>Order your poster</a:t>
                      </a:r>
                      <a:r>
                        <a:rPr lang="en-US" sz="2000" i="0" dirty="0">
                          <a:solidFill>
                            <a:srgbClr val="D9D9D9"/>
                          </a:solidFill>
                          <a:latin typeface="Arial"/>
                          <a:cs typeface="Arial"/>
                        </a:rPr>
                        <a:t>".</a:t>
                      </a:r>
                      <a:endParaRPr lang="en-US" sz="20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4572417">
                <a:tc>
                  <a:txBody>
                    <a:bodyPr/>
                    <a:lstStyle/>
                    <a:p>
                      <a:pPr algn="ctr"/>
                      <a:endParaRPr lang="en-US" sz="2000" dirty="0">
                        <a:solidFill>
                          <a:srgbClr val="1F3A4E"/>
                        </a:solidFill>
                      </a:endParaRPr>
                    </a:p>
                    <a:p>
                      <a:pPr algn="ctr"/>
                      <a:endParaRPr lang="en-US" sz="2000" dirty="0">
                        <a:solidFill>
                          <a:srgbClr val="1F3A4E"/>
                        </a:solidFill>
                      </a:endParaRPr>
                    </a:p>
                    <a:p>
                      <a:pPr algn="ctr"/>
                      <a:r>
                        <a:rPr lang="en-US" sz="2000" dirty="0">
                          <a:solidFill>
                            <a:schemeClr val="bg1"/>
                          </a:solidFill>
                          <a:latin typeface="Arial" panose="020B0604020202020204" pitchFamily="34" charset="0"/>
                          <a:cs typeface="Arial" panose="020B0604020202020204" pitchFamily="34" charset="0"/>
                        </a:rPr>
                        <a:t>This is a template for a </a:t>
                      </a:r>
                    </a:p>
                    <a:p>
                      <a:pPr algn="ctr"/>
                      <a:r>
                        <a:rPr lang="en-US" sz="2000" dirty="0">
                          <a:solidFill>
                            <a:schemeClr val="bg1"/>
                          </a:solidFill>
                          <a:latin typeface="Arial" panose="020B0604020202020204" pitchFamily="34" charset="0"/>
                          <a:cs typeface="Arial" panose="020B0604020202020204" pitchFamily="34" charset="0"/>
                        </a:rPr>
                        <a:t>presentation poster</a:t>
                      </a:r>
                      <a:br>
                        <a:rPr lang="en-US" sz="2000" dirty="0">
                          <a:solidFill>
                            <a:schemeClr val="bg1"/>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Virtual</a:t>
                      </a:r>
                      <a:br>
                        <a:rPr lang="en-US" sz="3600" b="1" dirty="0">
                          <a:solidFill>
                            <a:srgbClr val="FFC000"/>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Standard Size</a:t>
                      </a:r>
                      <a:br>
                        <a:rPr lang="en-US" sz="3600" b="1" dirty="0">
                          <a:solidFill>
                            <a:srgbClr val="FFC000"/>
                          </a:solidFill>
                          <a:latin typeface="Arial" panose="020B0604020202020204" pitchFamily="34" charset="0"/>
                          <a:cs typeface="Arial" panose="020B0604020202020204" pitchFamily="34" charset="0"/>
                        </a:rPr>
                      </a:br>
                      <a:r>
                        <a:rPr lang="en-US" sz="3600" b="1" dirty="0">
                          <a:solidFill>
                            <a:srgbClr val="FFC000"/>
                          </a:solidFill>
                          <a:latin typeface="Arial" panose="020B0604020202020204" pitchFamily="34" charset="0"/>
                          <a:cs typeface="Arial" panose="020B0604020202020204" pitchFamily="34" charset="0"/>
                        </a:rPr>
                        <a:t>(4:3 Ratio)</a:t>
                      </a:r>
                      <a:br>
                        <a:rPr lang="en-US" sz="2000" dirty="0">
                          <a:solidFill>
                            <a:schemeClr val="bg1"/>
                          </a:solidFill>
                          <a:latin typeface="Arial" panose="020B0604020202020204" pitchFamily="34" charset="0"/>
                          <a:cs typeface="Arial" panose="020B0604020202020204" pitchFamily="34" charset="0"/>
                        </a:rPr>
                      </a:br>
                      <a:endParaRPr lang="en-US" sz="20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baseline="0" dirty="0">
                          <a:solidFill>
                            <a:srgbClr val="FFC000"/>
                          </a:solidFill>
                          <a:latin typeface="Arial" panose="020B0604020202020204" pitchFamily="34" charset="0"/>
                          <a:cs typeface="Arial" panose="020B0604020202020204" pitchFamily="34" charset="0"/>
                        </a:rPr>
                        <a:t>Important: Check the template size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30 tall x 40 wide</a:t>
                      </a:r>
                    </a:p>
                    <a:p>
                      <a:pPr marL="0" marR="0" indent="0" algn="l" defTabSz="4388900" rtl="0" eaLnBrk="1" fontAlgn="auto" latinLnBrk="0" hangingPunct="1">
                        <a:lnSpc>
                          <a:spcPct val="100000"/>
                        </a:lnSpc>
                        <a:spcBef>
                          <a:spcPts val="0"/>
                        </a:spcBef>
                        <a:spcAft>
                          <a:spcPts val="0"/>
                        </a:spcAft>
                        <a:buClrTx/>
                        <a:buSzTx/>
                        <a:buFontTx/>
                        <a:buNone/>
                        <a:tabLst/>
                        <a:defRPr/>
                      </a:pPr>
                      <a:r>
                        <a:rPr lang="en-US" sz="2000" b="0" baseline="0" dirty="0">
                          <a:solidFill>
                            <a:srgbClr val="FFC000"/>
                          </a:solidFill>
                          <a:latin typeface="Arial" panose="020B0604020202020204" pitchFamily="34" charset="0"/>
                          <a:cs typeface="Arial" panose="020B0604020202020204" pitchFamily="34" charset="0"/>
                        </a:rPr>
                        <a:t>36 tall x 48 wide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42 tall x 56 wide</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48 tall x 64 wide</a:t>
                      </a:r>
                    </a:p>
                  </a:txBody>
                  <a:tcPr marL="182880" marT="137160">
                    <a:solidFill>
                      <a:srgbClr val="010101"/>
                    </a:solidFill>
                  </a:tcPr>
                </a:tc>
                <a:extLst>
                  <a:ext uri="{0D108BD9-81ED-4DB2-BD59-A6C34878D82A}">
                    <a16:rowId xmlns:a16="http://schemas.microsoft.com/office/drawing/2014/main" val="10008"/>
                  </a:ext>
                </a:extLst>
              </a:tr>
              <a:tr h="4288692">
                <a:tc>
                  <a:txBody>
                    <a:bodyPr/>
                    <a:lstStyle/>
                    <a:p>
                      <a:endParaRPr lang="en-US" sz="2000" dirty="0">
                        <a:solidFill>
                          <a:srgbClr val="1F3A4E"/>
                        </a:solidFill>
                      </a:endParaRPr>
                    </a:p>
                  </a:txBody>
                  <a:tcPr>
                    <a:blipFill rotWithShape="1">
                      <a:blip r:embed="rId3"/>
                      <a:stretch>
                        <a:fillRect/>
                      </a:stretch>
                    </a:blipFill>
                  </a:tcPr>
                </a:tc>
                <a:tc>
                  <a:txBody>
                    <a:bodyPr/>
                    <a:lstStyle/>
                    <a:p>
                      <a:pPr algn="l"/>
                      <a:r>
                        <a:rPr lang="en-US" sz="2400" b="1" baseline="0" dirty="0">
                          <a:solidFill>
                            <a:srgbClr val="FFC000"/>
                          </a:solidFill>
                          <a:latin typeface="Arial" panose="020B0604020202020204" pitchFamily="34" charset="0"/>
                          <a:cs typeface="Arial" panose="020B0604020202020204" pitchFamily="34" charset="0"/>
                        </a:rPr>
                        <a:t>How to </a:t>
                      </a:r>
                      <a:r>
                        <a:rPr lang="en-US" sz="4000" b="1" baseline="0" dirty="0">
                          <a:solidFill>
                            <a:srgbClr val="FFC000"/>
                          </a:solidFill>
                          <a:latin typeface="Arial" panose="020B0604020202020204" pitchFamily="34" charset="0"/>
                          <a:cs typeface="Arial" panose="020B0604020202020204" pitchFamily="34" charset="0"/>
                        </a:rPr>
                        <a:t>Zoom in </a:t>
                      </a:r>
                      <a:r>
                        <a:rPr lang="en-US" sz="2400" b="1" baseline="0" dirty="0">
                          <a:solidFill>
                            <a:srgbClr val="FFC000"/>
                          </a:solidFill>
                          <a:latin typeface="Arial" panose="020B0604020202020204" pitchFamily="34" charset="0"/>
                          <a:cs typeface="Arial" panose="020B0604020202020204" pitchFamily="34" charset="0"/>
                        </a:rPr>
                        <a:t>and </a:t>
                      </a:r>
                      <a:r>
                        <a:rPr lang="en-US" sz="1800" b="1" baseline="0" dirty="0">
                          <a:solidFill>
                            <a:srgbClr val="FFC000"/>
                          </a:solidFill>
                          <a:latin typeface="Arial" panose="020B0604020202020204" pitchFamily="34" charset="0"/>
                          <a:cs typeface="Arial" panose="020B0604020202020204" pitchFamily="34" charset="0"/>
                        </a:rPr>
                        <a:t>out</a:t>
                      </a:r>
                      <a:endParaRPr lang="en-US" sz="2400" b="1" baseline="0" dirty="0">
                        <a:solidFill>
                          <a:srgbClr val="FFC000"/>
                        </a:solidFill>
                        <a:latin typeface="Arial" panose="020B0604020202020204" pitchFamily="34" charset="0"/>
                        <a:cs typeface="Arial" panose="020B0604020202020204" pitchFamily="34" charset="0"/>
                      </a:endParaRPr>
                    </a:p>
                    <a:p>
                      <a:pPr algn="l"/>
                      <a:r>
                        <a:rPr lang="en-US" sz="20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1. </a:t>
                      </a:r>
                      <a:r>
                        <a:rPr lang="en-US" sz="20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000" b="0" baseline="0" dirty="0">
                          <a:solidFill>
                            <a:srgbClr val="D9D9D9"/>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2. </a:t>
                      </a:r>
                      <a:r>
                        <a:rPr lang="en-US" sz="20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1800526">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400" b="1" baseline="0" dirty="0">
                          <a:solidFill>
                            <a:srgbClr val="FFC000"/>
                          </a:solidFill>
                          <a:latin typeface="Arial" panose="020B0604020202020204" pitchFamily="34" charset="0"/>
                          <a:cs typeface="Arial" panose="020B0604020202020204" pitchFamily="34" charset="0"/>
                        </a:rPr>
                        <a:t>Ruler and Guides</a:t>
                      </a:r>
                      <a:br>
                        <a:rPr lang="en-US" sz="2000" b="0" baseline="0" dirty="0">
                          <a:solidFill>
                            <a:srgbClr val="FFC000"/>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3824339">
                <a:tc>
                  <a:txBody>
                    <a:bodyPr/>
                    <a:lstStyle/>
                    <a:p>
                      <a:endParaRPr lang="en-US" sz="2000" dirty="0">
                        <a:solidFill>
                          <a:srgbClr val="1F3A4E"/>
                        </a:solidFill>
                      </a:endParaRPr>
                    </a:p>
                  </a:txBody>
                  <a:tcPr>
                    <a:blipFill rotWithShape="1">
                      <a:blip r:embed="rId4"/>
                      <a:stretch>
                        <a:fillRect/>
                      </a:stretch>
                    </a:blipFill>
                  </a:tcPr>
                </a:tc>
                <a:tc>
                  <a:txBody>
                    <a:bodyPr/>
                    <a:lstStyle/>
                    <a:p>
                      <a:pPr marL="0" lvl="1" indent="0" algn="l" defTabSz="114300"/>
                      <a:r>
                        <a:rPr lang="en-US" sz="2400" b="1" baseline="0" dirty="0">
                          <a:solidFill>
                            <a:srgbClr val="FFC000"/>
                          </a:solidFill>
                          <a:latin typeface="Arial" panose="020B0604020202020204" pitchFamily="34" charset="0"/>
                          <a:cs typeface="Arial" panose="020B0604020202020204" pitchFamily="34" charset="0"/>
                        </a:rPr>
                        <a:t>Headers and text containers</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000" b="0" baseline="0" dirty="0">
                          <a:solidFill>
                            <a:schemeClr val="bg1"/>
                          </a:solidFill>
                          <a:latin typeface="Arial" panose="020B0604020202020204" pitchFamily="34" charset="0"/>
                          <a:cs typeface="Arial" panose="020B0604020202020204" pitchFamily="34" charset="0"/>
                        </a:rPr>
                      </a:br>
                      <a:r>
                        <a:rPr lang="en-US" sz="2000" b="0" baseline="0" dirty="0">
                          <a:solidFill>
                            <a:srgbClr val="FFC000"/>
                          </a:solidFill>
                          <a:latin typeface="Arial" panose="020B0604020202020204" pitchFamily="34" charset="0"/>
                          <a:cs typeface="Arial" panose="020B0604020202020204" pitchFamily="34" charset="0"/>
                        </a:rPr>
                        <a:t>-</a:t>
                      </a:r>
                      <a:r>
                        <a:rPr lang="en-US" sz="2000" b="0" baseline="0" dirty="0">
                          <a:solidFill>
                            <a:schemeClr val="bg1"/>
                          </a:solidFill>
                          <a:latin typeface="Arial" panose="020B0604020202020204" pitchFamily="34" charset="0"/>
                          <a:cs typeface="Arial" panose="020B0604020202020204" pitchFamily="34" charset="0"/>
                        </a:rPr>
                        <a:t> </a:t>
                      </a:r>
                      <a:r>
                        <a:rPr lang="en-US" sz="20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519135">
                <a:tc gridSpan="2">
                  <a:txBody>
                    <a:bodyPr/>
                    <a:lstStyle/>
                    <a:p>
                      <a:r>
                        <a:rPr lang="en-US" sz="2400" b="1" dirty="0">
                          <a:solidFill>
                            <a:srgbClr val="FFC000"/>
                          </a:solidFill>
                          <a:latin typeface="Arial" panose="020B0604020202020204" pitchFamily="34" charset="0"/>
                          <a:cs typeface="Arial" panose="020B0604020202020204" pitchFamily="34" charset="0"/>
                        </a:rPr>
                        <a:t>Adding content to the poster</a:t>
                      </a:r>
                    </a:p>
                    <a:p>
                      <a:r>
                        <a:rPr lang="en-US" sz="20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0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0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377657">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93170">
                <a:tc gridSpan="2">
                  <a:txBody>
                    <a:bodyPr/>
                    <a:lstStyle/>
                    <a:p>
                      <a:endParaRPr lang="en-US" sz="20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280277">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0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187270">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0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aphicFrame>
        <p:nvGraphicFramePr>
          <p:cNvPr id="9" name="Table 8">
            <a:extLst>
              <a:ext uri="{FF2B5EF4-FFF2-40B4-BE49-F238E27FC236}">
                <a16:creationId xmlns:a16="http://schemas.microsoft.com/office/drawing/2014/main" id="{8EA12BE2-365E-9447-A07A-009B23598B4B}"/>
              </a:ext>
            </a:extLst>
          </p:cNvPr>
          <p:cNvGraphicFramePr>
            <a:graphicFrameLocks noGrp="1"/>
          </p:cNvGraphicFramePr>
          <p:nvPr userDrawn="1">
            <p:extLst>
              <p:ext uri="{D42A27DB-BD31-4B8C-83A1-F6EECF244321}">
                <p14:modId xmlns:p14="http://schemas.microsoft.com/office/powerpoint/2010/main" val="141159618"/>
              </p:ext>
            </p:extLst>
          </p:nvPr>
        </p:nvGraphicFramePr>
        <p:xfrm>
          <a:off x="44635119" y="14098"/>
          <a:ext cx="9619281" cy="32847657"/>
        </p:xfrm>
        <a:graphic>
          <a:graphicData uri="http://schemas.openxmlformats.org/drawingml/2006/table">
            <a:tbl>
              <a:tblPr firstRow="1" bandRow="1">
                <a:tableStyleId>{5C22544A-7EE6-4342-B048-85BDC9FD1C3A}</a:tableStyleId>
              </a:tblPr>
              <a:tblGrid>
                <a:gridCol w="3585856">
                  <a:extLst>
                    <a:ext uri="{9D8B030D-6E8A-4147-A177-3AD203B41FA5}">
                      <a16:colId xmlns:a16="http://schemas.microsoft.com/office/drawing/2014/main" val="20000"/>
                    </a:ext>
                  </a:extLst>
                </a:gridCol>
                <a:gridCol w="1199648">
                  <a:extLst>
                    <a:ext uri="{9D8B030D-6E8A-4147-A177-3AD203B41FA5}">
                      <a16:colId xmlns:a16="http://schemas.microsoft.com/office/drawing/2014/main" val="997673227"/>
                    </a:ext>
                  </a:extLst>
                </a:gridCol>
                <a:gridCol w="4833777">
                  <a:extLst>
                    <a:ext uri="{9D8B030D-6E8A-4147-A177-3AD203B41FA5}">
                      <a16:colId xmlns:a16="http://schemas.microsoft.com/office/drawing/2014/main" val="4164475170"/>
                    </a:ext>
                  </a:extLst>
                </a:gridCol>
              </a:tblGrid>
              <a:tr h="1296236">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076923">
                <a:tc gridSpan="3">
                  <a:txBody>
                    <a:bodyPr/>
                    <a:lstStyle/>
                    <a:p>
                      <a:pPr algn="l"/>
                      <a:r>
                        <a:rPr lang="en-US" sz="29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sz="2400" dirty="0">
                        <a:solidFill>
                          <a:srgbClr val="1F3A4E"/>
                        </a:solidFill>
                      </a:endParaRPr>
                    </a:p>
                  </a:txBody>
                  <a:tcPr marL="182880" marT="137160">
                    <a:blipFill rotWithShape="1">
                      <a:blip r:embed="rId8"/>
                      <a:stretch>
                        <a:fillRect/>
                      </a:stretch>
                    </a:blipFill>
                  </a:tcPr>
                </a:tc>
                <a:tc hMerge="1">
                  <a:txBody>
                    <a:bodyPr/>
                    <a:lstStyle/>
                    <a:p>
                      <a:endParaRPr lang="en-US"/>
                    </a:p>
                  </a:txBody>
                  <a:tcPr/>
                </a:tc>
                <a:extLst>
                  <a:ext uri="{0D108BD9-81ED-4DB2-BD59-A6C34878D82A}">
                    <a16:rowId xmlns:a16="http://schemas.microsoft.com/office/drawing/2014/main" val="10001"/>
                  </a:ext>
                </a:extLst>
              </a:tr>
              <a:tr h="2854805">
                <a:tc gridSpan="3">
                  <a:txBody>
                    <a:bodyPr/>
                    <a:lstStyle/>
                    <a:p>
                      <a:r>
                        <a:rPr lang="en-US" sz="29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8600" u="sng" dirty="0">
                        <a:solidFill>
                          <a:srgbClr val="FFC000"/>
                        </a:solidFill>
                      </a:endParaRPr>
                    </a:p>
                  </a:txBody>
                  <a:tcPr marL="182880" marT="137160">
                    <a:solidFill>
                      <a:schemeClr val="tx1"/>
                    </a:solidFill>
                  </a:tcPr>
                </a:tc>
                <a:tc hMerge="1">
                  <a:txBody>
                    <a:bodyPr/>
                    <a:lstStyle/>
                    <a:p>
                      <a:endParaRPr lang="en-US" sz="2400" dirty="0">
                        <a:solidFill>
                          <a:srgbClr val="1F3A4E"/>
                        </a:solidFill>
                      </a:endParaRPr>
                    </a:p>
                  </a:txBody>
                  <a:tcPr marL="182880" marT="137160">
                    <a:blipFill rotWithShape="1">
                      <a:blip r:embed="rId9"/>
                      <a:stretch>
                        <a:fillRect/>
                      </a:stretch>
                    </a:blipFill>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35361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10">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row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391719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a:txBody>
                    <a:bodyPr/>
                    <a:lstStyle/>
                    <a:p>
                      <a:endParaRPr lang="en-US"/>
                    </a:p>
                  </a:txBody>
                  <a:tcPr/>
                </a:tc>
                <a:tc vMerge="1">
                  <a:txBody>
                    <a:bodyPr/>
                    <a:lstStyle/>
                    <a:p>
                      <a:endParaRPr lang="en-US"/>
                    </a:p>
                  </a:txBody>
                  <a:tcPr/>
                </a:tc>
                <a:extLst>
                  <a:ext uri="{0D108BD9-81ED-4DB2-BD59-A6C34878D82A}">
                    <a16:rowId xmlns:a16="http://schemas.microsoft.com/office/drawing/2014/main" val="1766341567"/>
                  </a:ext>
                </a:extLst>
              </a:tr>
              <a:tr h="3672668">
                <a:tc gridSpan="2">
                  <a:txBody>
                    <a:bodyPr/>
                    <a:lstStyle/>
                    <a:p>
                      <a:r>
                        <a:rPr lang="en-US" sz="2900" b="1" dirty="0">
                          <a:solidFill>
                            <a:srgbClr val="FFC000"/>
                          </a:solidFill>
                          <a:latin typeface="Arial" panose="020B0604020202020204" pitchFamily="34" charset="0"/>
                          <a:cs typeface="Arial" panose="020B0604020202020204" pitchFamily="34" charset="0"/>
                        </a:rPr>
                        <a:t>How to</a:t>
                      </a:r>
                      <a:r>
                        <a:rPr lang="en-US" sz="2900" b="1" baseline="0" dirty="0">
                          <a:solidFill>
                            <a:srgbClr val="FFC000"/>
                          </a:solidFill>
                          <a:latin typeface="Arial" panose="020B0604020202020204" pitchFamily="34" charset="0"/>
                          <a:cs typeface="Arial" panose="020B0604020202020204" pitchFamily="34" charset="0"/>
                        </a:rPr>
                        <a:t> preview your poster prior to presenting</a:t>
                      </a:r>
                      <a:endParaRPr lang="en-US" sz="2900" b="1" dirty="0">
                        <a:solidFill>
                          <a:srgbClr val="FFC000"/>
                        </a:solidFill>
                        <a:latin typeface="Arial" panose="020B0604020202020204" pitchFamily="34" charset="0"/>
                        <a:cs typeface="Arial" panose="020B0604020202020204" pitchFamily="34" charset="0"/>
                      </a:endParaRPr>
                    </a:p>
                    <a:p>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hMerge="1">
                  <a:txBody>
                    <a:bodyPr/>
                    <a:lstStyle/>
                    <a:p>
                      <a:endParaRPr lang="en-US"/>
                    </a:p>
                  </a:txBody>
                  <a:tcPr/>
                </a:tc>
                <a:tc>
                  <a:txBody>
                    <a:bodyPr/>
                    <a:lstStyle/>
                    <a:p>
                      <a:pPr algn="ctr"/>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86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1743746">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a:cs typeface="Arial"/>
                        </a:rPr>
                        <a:t>How to present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finish designing your poster and are ready to virtually present it, follow the conference organizers' instructions.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a:cs typeface="Arial"/>
                      </a:endParaRP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8073404">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dirty="0">
                          <a:solidFill>
                            <a:srgbClr val="FFC000"/>
                          </a:solidFill>
                          <a:latin typeface="Arial"/>
                          <a:cs typeface="Arial"/>
                        </a:rPr>
                        <a:t>Publish, present virtually, share, and discuss!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Submit your poster and add it to the Research Poster Virtual Library.</a:t>
                      </a:r>
                      <a:br>
                        <a:rPr lang="en-US" sz="2400" b="0" noProof="0" dirty="0">
                          <a:solidFill>
                            <a:srgbClr val="FFC000"/>
                          </a:solidFill>
                          <a:latin typeface="Arial"/>
                          <a:cs typeface="Arial"/>
                        </a:rPr>
                      </a:br>
                      <a:br>
                        <a:rPr lang="en-US" sz="2400" b="0" noProof="0" dirty="0">
                          <a:solidFill>
                            <a:srgbClr val="FFC000"/>
                          </a:solidFill>
                          <a:latin typeface="Arial"/>
                          <a:cs typeface="Arial"/>
                        </a:rPr>
                      </a:br>
                      <a:r>
                        <a:rPr lang="en-US" sz="2400" b="1" noProof="0" dirty="0">
                          <a:solidFill>
                            <a:srgbClr val="FFC000"/>
                          </a:solidFill>
                          <a:latin typeface="Arial"/>
                          <a:cs typeface="Arial"/>
                        </a:rPr>
                        <a:t>Continuous global reach</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Share your research with thousands of students, educators, scientists, and researchers from all over the United States and the World.</a:t>
                      </a:r>
                    </a:p>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Full-featured poster showcase included</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Present your poster on a  professional full-featured and customizable web page that includes full screen functions, social sharing, your own discussion board, private contact form, narration and more.</a:t>
                      </a:r>
                    </a:p>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1" noProof="0" dirty="0">
                          <a:solidFill>
                            <a:srgbClr val="FFC000"/>
                          </a:solidFill>
                          <a:latin typeface="Arial"/>
                          <a:cs typeface="Arial"/>
                        </a:rPr>
                        <a:t>Convenience for presenter groups and conference coordinators </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b="0" noProof="0" dirty="0">
                          <a:solidFill>
                            <a:schemeClr val="bg1"/>
                          </a:solidFill>
                          <a:latin typeface="Arial"/>
                          <a:cs typeface="Arial"/>
                        </a:rPr>
                        <a:t>Published posters can easily be presented at virtual conferences. Perfect solution for organizers of meetings and conferences.</a:t>
                      </a:r>
                      <a:br>
                        <a:rPr lang="en-US" sz="2400" b="0" noProof="0" dirty="0">
                          <a:solidFill>
                            <a:srgbClr val="FFC000"/>
                          </a:solidFill>
                          <a:latin typeface="Arial"/>
                          <a:cs typeface="Arial"/>
                        </a:rPr>
                      </a:br>
                      <a:endParaRPr lang="en-US" sz="2400" b="0" noProof="0" dirty="0">
                        <a:solidFill>
                          <a:srgbClr val="FFC000"/>
                        </a:solidFill>
                        <a:latin typeface="Arial"/>
                        <a:cs typeface="Arial"/>
                      </a:endParaRPr>
                    </a:p>
                    <a:p>
                      <a:pPr marL="0" marR="0" lvl="0" indent="0" algn="l" defTabSz="1518341" rtl="0" eaLnBrk="1" fontAlgn="auto" latinLnBrk="0" hangingPunct="1">
                        <a:lnSpc>
                          <a:spcPct val="100000"/>
                        </a:lnSpc>
                        <a:spcBef>
                          <a:spcPts val="0"/>
                        </a:spcBef>
                        <a:spcAft>
                          <a:spcPts val="0"/>
                        </a:spcAft>
                        <a:buClrTx/>
                        <a:buSzTx/>
                        <a:buFontTx/>
                        <a:buNone/>
                        <a:tabLst/>
                        <a:defRPr/>
                      </a:pPr>
                      <a:r>
                        <a:rPr lang="en-US" sz="2900" b="1" noProof="0" dirty="0">
                          <a:solidFill>
                            <a:srgbClr val="FFC000"/>
                          </a:solidFill>
                          <a:latin typeface="Arial"/>
                          <a:cs typeface="Arial"/>
                        </a:rPr>
                        <a:t>https://</a:t>
                      </a:r>
                      <a:r>
                        <a:rPr lang="en-US" sz="2900" b="1" noProof="0" dirty="0" err="1">
                          <a:solidFill>
                            <a:srgbClr val="FFC000"/>
                          </a:solidFill>
                          <a:latin typeface="Arial"/>
                          <a:cs typeface="Arial"/>
                        </a:rPr>
                        <a:t>www.PosterPresentations.com</a:t>
                      </a:r>
                      <a:r>
                        <a:rPr lang="en-US" sz="2900" b="1" noProof="0" dirty="0">
                          <a:solidFill>
                            <a:srgbClr val="FFC000"/>
                          </a:solidFill>
                          <a:latin typeface="Arial"/>
                          <a:cs typeface="Arial"/>
                        </a:rPr>
                        <a:t>/research</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1" noProof="0" dirty="0">
                        <a:solidFill>
                          <a:srgbClr val="FFC000"/>
                        </a:solidFill>
                        <a:latin typeface="Arial"/>
                        <a:cs typeface="Arial"/>
                      </a:endParaRPr>
                    </a:p>
                  </a:txBody>
                  <a:tcPr marL="182880" marT="137160">
                    <a:solidFill>
                      <a:srgbClr val="00336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48051497"/>
                  </a:ext>
                </a:extLst>
              </a:tr>
              <a:tr h="1176075">
                <a:tc gridSpan="3">
                  <a:txBody>
                    <a:bodyPr/>
                    <a:lstStyle/>
                    <a:p>
                      <a:endParaRPr lang="en-US" sz="2400" dirty="0">
                        <a:solidFill>
                          <a:srgbClr val="1F3A4E"/>
                        </a:solidFill>
                      </a:endParaRPr>
                    </a:p>
                  </a:txBody>
                  <a:tcPr marL="182880" marT="137160">
                    <a:blipFill dpi="0" rotWithShape="1">
                      <a:blip r:embed="rId11">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500444">
                <a:tc>
                  <a:txBody>
                    <a:bodyPr/>
                    <a:lstStyle/>
                    <a:p>
                      <a:pPr>
                        <a:lnSpc>
                          <a:spcPts val="2600"/>
                        </a:lnSpc>
                      </a:pPr>
                      <a:r>
                        <a:rPr lang="en-US" sz="2100" dirty="0">
                          <a:solidFill>
                            <a:schemeClr val="bg1">
                              <a:lumMod val="85000"/>
                            </a:schemeClr>
                          </a:solidFill>
                          <a:latin typeface="Arial"/>
                          <a:cs typeface="Arial"/>
                        </a:rPr>
                        <a:t>© 2020</a:t>
                      </a:r>
                      <a:r>
                        <a:rPr lang="en-US" sz="2100" baseline="0" dirty="0">
                          <a:solidFill>
                            <a:schemeClr val="bg1">
                              <a:lumMod val="85000"/>
                            </a:schemeClr>
                          </a:solidFill>
                          <a:latin typeface="Arial"/>
                          <a:cs typeface="Arial"/>
                        </a:rPr>
                        <a:t> </a:t>
                      </a:r>
                      <a:r>
                        <a:rPr lang="en-US" sz="2100" dirty="0" err="1">
                          <a:solidFill>
                            <a:schemeClr val="bg1">
                              <a:lumMod val="85000"/>
                            </a:schemeClr>
                          </a:solidFill>
                          <a:latin typeface="Arial"/>
                          <a:cs typeface="Arial"/>
                        </a:rPr>
                        <a:t>PosterPresentations.com</a:t>
                      </a:r>
                      <a:br>
                        <a:rPr lang="en-US" sz="2100" dirty="0">
                          <a:solidFill>
                            <a:schemeClr val="bg1">
                              <a:lumMod val="85000"/>
                            </a:schemeClr>
                          </a:solidFill>
                          <a:latin typeface="Arial"/>
                          <a:cs typeface="Arial"/>
                        </a:rPr>
                      </a:br>
                      <a:r>
                        <a:rPr lang="en-US" sz="2100" dirty="0">
                          <a:solidFill>
                            <a:schemeClr val="bg1">
                              <a:lumMod val="85000"/>
                            </a:schemeClr>
                          </a:solidFill>
                          <a:latin typeface="Arial"/>
                          <a:cs typeface="Arial"/>
                        </a:rPr>
                        <a:t>2117 Fourth Street ,</a:t>
                      </a:r>
                      <a:r>
                        <a:rPr lang="en-US" sz="2100" baseline="0" dirty="0">
                          <a:solidFill>
                            <a:schemeClr val="bg1">
                              <a:lumMod val="85000"/>
                            </a:schemeClr>
                          </a:solidFill>
                          <a:latin typeface="Arial"/>
                          <a:cs typeface="Arial"/>
                        </a:rPr>
                        <a:t> STE C        </a:t>
                      </a:r>
                    </a:p>
                    <a:p>
                      <a:pPr>
                        <a:lnSpc>
                          <a:spcPts val="2600"/>
                        </a:lnSpc>
                      </a:pPr>
                      <a:r>
                        <a:rPr lang="en-US" sz="2100" baseline="0" dirty="0">
                          <a:solidFill>
                            <a:schemeClr val="bg1">
                              <a:lumMod val="85000"/>
                            </a:schemeClr>
                          </a:solidFill>
                          <a:latin typeface="Arial"/>
                          <a:cs typeface="Arial"/>
                        </a:rPr>
                        <a:t>Berkeley CA 94710 USA</a:t>
                      </a:r>
                      <a:endParaRPr lang="en-US" sz="2100" dirty="0">
                        <a:solidFill>
                          <a:schemeClr val="bg1">
                            <a:lumMod val="85000"/>
                          </a:schemeClr>
                        </a:solidFill>
                        <a:latin typeface="Arial"/>
                        <a:cs typeface="Arial"/>
                      </a:endParaRPr>
                    </a:p>
                  </a:txBody>
                  <a:tcPr marL="182880" marT="137160">
                    <a:solidFill>
                      <a:srgbClr val="010101"/>
                    </a:solidFill>
                  </a:tcPr>
                </a:tc>
                <a:tc gridSpan="2">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800" dirty="0">
                        <a:solidFill>
                          <a:schemeClr val="bg1">
                            <a:lumMod val="85000"/>
                          </a:schemeClr>
                        </a:solidFill>
                        <a:latin typeface="Arial"/>
                        <a:cs typeface="Arial"/>
                      </a:endParaRPr>
                    </a:p>
                  </a:txBody>
                  <a:tcPr marL="182880" marT="137160">
                    <a:solidFill>
                      <a:srgbClr val="010101"/>
                    </a:solidFill>
                  </a:tcPr>
                </a:tc>
                <a:tc hMerge="1">
                  <a:txBody>
                    <a:bodyPr/>
                    <a:lstStyle/>
                    <a:p>
                      <a:endParaRPr lang="en-US"/>
                    </a:p>
                  </a:txBody>
                  <a:tcPr/>
                </a:tc>
                <a:extLst>
                  <a:ext uri="{0D108BD9-81ED-4DB2-BD59-A6C34878D82A}">
                    <a16:rowId xmlns:a16="http://schemas.microsoft.com/office/drawing/2014/main" val="10009"/>
                  </a:ext>
                </a:extLst>
              </a:tr>
            </a:tbl>
          </a:graphicData>
        </a:graphic>
      </p:graphicFrame>
      <p:pic>
        <p:nvPicPr>
          <p:cNvPr id="2" name="Picture 1">
            <a:extLst>
              <a:ext uri="{FF2B5EF4-FFF2-40B4-BE49-F238E27FC236}">
                <a16:creationId xmlns:a16="http://schemas.microsoft.com/office/drawing/2014/main" id="{9469689F-852D-4F8C-AF34-550451A91731}"/>
              </a:ext>
            </a:extLst>
          </p:cNvPr>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214955" y="325042"/>
            <a:ext cx="2709763" cy="2709763"/>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Placeholder 37">
            <a:extLst>
              <a:ext uri="{FF2B5EF4-FFF2-40B4-BE49-F238E27FC236}">
                <a16:creationId xmlns:a16="http://schemas.microsoft.com/office/drawing/2014/main" id="{2B0A12F5-E9ED-4315-A166-C99ABC61051B}"/>
              </a:ext>
            </a:extLst>
          </p:cNvPr>
          <p:cNvSpPr>
            <a:spLocks noGrp="1"/>
          </p:cNvSpPr>
          <p:nvPr>
            <p:ph type="body" sz="quarter" idx="10"/>
          </p:nvPr>
        </p:nvSpPr>
        <p:spPr/>
        <p:txBody>
          <a:bodyPr wrap="square"/>
          <a:lstStyle/>
          <a:p>
            <a:pPr algn="r">
              <a:spcAft>
                <a:spcPts val="600"/>
              </a:spcAft>
            </a:pPr>
            <a:r>
              <a:rPr sz="1200" b="0">
                <a:solidFill>
                  <a:srgbClr val="1A2332"/>
                </a:solidFill>
                <a:latin typeface="Tahoma"/>
              </a:rPr>
              <a:t>نودهای حسگر IoT معمولاً با باتری محدود کار می‌کنند. ارسال مداوم عمر شبکه را کم می‌کند و خواب بیش از حد کیفیت پایش را پایین می‌آورد.</a:t>
            </a:r>
            <a:endParaRPr lang="en-US"/>
          </a:p>
          <a:p>
            <a:pPr algn="r">
              <a:spcAft>
                <a:spcPts val="600"/>
              </a:spcAft>
            </a:pPr>
            <a:r>
              <a:rPr sz="1200" b="0">
                <a:solidFill>
                  <a:srgbClr val="1A2332"/>
                </a:solidFill>
                <a:latin typeface="Tahoma"/>
              </a:rPr>
              <a:t>اتصالات جهانی IoT از حدود ۲۱ میلیارد (۲۰۲۵) به حدود ۴۸ میلیارد (۲۰۳۵) می‌رسد [1]. بنابراین تصمیم هوشمند بین Transmit و Sleep ضروری است.</a:t>
            </a:r>
          </a:p>
        </p:txBody>
      </p:sp>
      <p:sp>
        <p:nvSpPr>
          <p:cNvPr id="39" name="Text Placeholder 38">
            <a:extLst>
              <a:ext uri="{FF2B5EF4-FFF2-40B4-BE49-F238E27FC236}">
                <a16:creationId xmlns:a16="http://schemas.microsoft.com/office/drawing/2014/main" id="{852E172C-94E6-4CA5-BA25-C019F07B20DF}"/>
              </a:ext>
            </a:extLst>
          </p:cNvPr>
          <p:cNvSpPr>
            <a:spLocks noGrp="1"/>
          </p:cNvSpPr>
          <p:nvPr>
            <p:ph type="body" sz="quarter" idx="11"/>
          </p:nvPr>
        </p:nvSpPr>
        <p:spPr/>
        <p:txBody>
          <a:bodyPr wrap="square"/>
          <a:lstStyle/>
          <a:p>
            <a:pPr algn="r"/>
            <a:r>
              <a:rPr sz="1800" b="1">
                <a:solidFill>
                  <a:srgbClr val="0F4C81"/>
                </a:solidFill>
                <a:latin typeface="Tahoma"/>
              </a:rPr>
              <a:t>مسئله و انگیزه</a:t>
            </a:r>
            <a:endParaRPr lang="en-US" dirty="0"/>
          </a:p>
        </p:txBody>
      </p:sp>
      <p:sp>
        <p:nvSpPr>
          <p:cNvPr id="40" name="Text Placeholder 39">
            <a:extLst>
              <a:ext uri="{FF2B5EF4-FFF2-40B4-BE49-F238E27FC236}">
                <a16:creationId xmlns:a16="http://schemas.microsoft.com/office/drawing/2014/main" id="{DB732016-7512-4004-BA9E-20C0D0103979}"/>
              </a:ext>
            </a:extLst>
          </p:cNvPr>
          <p:cNvSpPr>
            <a:spLocks noGrp="1"/>
          </p:cNvSpPr>
          <p:nvPr>
            <p:ph type="body" sz="quarter" idx="19"/>
          </p:nvPr>
        </p:nvSpPr>
        <p:spPr/>
        <p:txBody>
          <a:bodyPr wrap="square"/>
          <a:lstStyle/>
          <a:p>
            <a:pPr algn="r">
              <a:spcAft>
                <a:spcPts val="600"/>
              </a:spcAft>
            </a:pPr>
            <a:r>
              <a:rPr sz="1100" b="0">
                <a:solidFill>
                  <a:srgbClr val="1A2332"/>
                </a:solidFill>
                <a:latin typeface="Tahoma"/>
              </a:rPr>
              <a:t>تنظیمات: ۳ نود | افق ۵۰ گام | آموزش ۸۰۰۰ گام | میانگین ۵ اپیزود</a:t>
            </a:r>
            <a:endParaRPr lang="en-US" dirty="0"/>
          </a:p>
          <a:p>
            <a:pPr algn="r">
              <a:spcAft>
                <a:spcPts val="600"/>
              </a:spcAft>
            </a:pPr>
            <a:r>
              <a:rPr sz="1100" b="0">
                <a:solidFill>
                  <a:srgbClr val="1A2332"/>
                </a:solidFill>
                <a:latin typeface="Tahoma"/>
              </a:rPr>
              <a:t>Always Transmit → Lifetime 17 | Packets 48 | Energy 0.00</a:t>
            </a:r>
          </a:p>
          <a:p>
            <a:pPr algn="r">
              <a:spcAft>
                <a:spcPts val="600"/>
              </a:spcAft>
            </a:pPr>
            <a:r>
              <a:rPr sz="1100" b="0">
                <a:solidFill>
                  <a:srgbClr val="1A2332"/>
                </a:solidFill>
                <a:latin typeface="Tahoma"/>
              </a:rPr>
              <a:t>Always Sleep → Lifetime 50 | Packets 0 | Energy 2.85</a:t>
            </a:r>
          </a:p>
          <a:p>
            <a:pPr algn="r">
              <a:spcAft>
                <a:spcPts val="600"/>
              </a:spcAft>
            </a:pPr>
            <a:r>
              <a:rPr sz="1100" b="0">
                <a:solidFill>
                  <a:srgbClr val="1A2332"/>
                </a:solidFill>
                <a:latin typeface="Tahoma"/>
              </a:rPr>
              <a:t>Random → Lifetime 38.6 | Packets 48 | Energy 0.00</a:t>
            </a:r>
          </a:p>
          <a:p>
            <a:pPr algn="r">
              <a:spcAft>
                <a:spcPts val="600"/>
              </a:spcAft>
            </a:pPr>
            <a:r>
              <a:rPr sz="1100" b="0">
                <a:solidFill>
                  <a:srgbClr val="1A2332"/>
                </a:solidFill>
                <a:latin typeface="Tahoma"/>
              </a:rPr>
              <a:t>DQN → Lifetime 50 | Packets 42 | Energy 0.37</a:t>
            </a:r>
          </a:p>
          <a:p>
            <a:pPr algn="r">
              <a:spcAft>
                <a:spcPts val="600"/>
              </a:spcAft>
            </a:pPr>
            <a:r>
              <a:rPr sz="1100" b="0">
                <a:solidFill>
                  <a:srgbClr val="1A2332"/>
                </a:solidFill>
                <a:latin typeface="Tahoma"/>
              </a:rPr>
              <a:t>پیام: DQN عمر شبکه را حفظ می‌کند و هم‌زمان داده تحویل می‌دهد.</a:t>
            </a:r>
          </a:p>
        </p:txBody>
      </p:sp>
      <p:sp>
        <p:nvSpPr>
          <p:cNvPr id="41" name="Text Placeholder 40">
            <a:extLst>
              <a:ext uri="{FF2B5EF4-FFF2-40B4-BE49-F238E27FC236}">
                <a16:creationId xmlns:a16="http://schemas.microsoft.com/office/drawing/2014/main" id="{79A11DDF-D08C-4318-816C-EBCD9756843E}"/>
              </a:ext>
            </a:extLst>
          </p:cNvPr>
          <p:cNvSpPr>
            <a:spLocks noGrp="1"/>
          </p:cNvSpPr>
          <p:nvPr>
            <p:ph type="body" sz="quarter" idx="20"/>
          </p:nvPr>
        </p:nvSpPr>
        <p:spPr/>
        <p:txBody>
          <a:bodyPr wrap="square"/>
          <a:lstStyle/>
          <a:p>
            <a:pPr algn="r"/>
            <a:r>
              <a:rPr sz="1800" b="1">
                <a:solidFill>
                  <a:srgbClr val="0F4C81"/>
                </a:solidFill>
                <a:latin typeface="Tahoma"/>
              </a:rPr>
              <a:t>نتایج کلیدی</a:t>
            </a:r>
            <a:endParaRPr lang="en-US" dirty="0"/>
          </a:p>
        </p:txBody>
      </p:sp>
      <p:sp>
        <p:nvSpPr>
          <p:cNvPr id="42" name="Text Placeholder 41">
            <a:extLst>
              <a:ext uri="{FF2B5EF4-FFF2-40B4-BE49-F238E27FC236}">
                <a16:creationId xmlns:a16="http://schemas.microsoft.com/office/drawing/2014/main" id="{9EA33C76-DF75-4D6C-95B4-0F0336D94393}"/>
              </a:ext>
            </a:extLst>
          </p:cNvPr>
          <p:cNvSpPr>
            <a:spLocks noGrp="1"/>
          </p:cNvSpPr>
          <p:nvPr>
            <p:ph type="body" sz="quarter" idx="23"/>
          </p:nvPr>
        </p:nvSpPr>
        <p:spPr/>
        <p:txBody>
          <a:bodyPr wrap="square"/>
          <a:lstStyle/>
          <a:p>
            <a:pPr algn="r">
              <a:spcAft>
                <a:spcPts val="600"/>
              </a:spcAft>
            </a:pPr>
            <a:r>
              <a:rPr sz="1200" b="0">
                <a:solidFill>
                  <a:srgbClr val="1A2332"/>
                </a:solidFill>
                <a:latin typeface="Tahoma"/>
              </a:rPr>
              <a:t>• شبیه‌سازی شبکه IoT با مدل انرژی</a:t>
            </a:r>
            <a:endParaRPr lang="en-US"/>
          </a:p>
          <a:p>
            <a:pPr algn="r">
              <a:spcAft>
                <a:spcPts val="600"/>
              </a:spcAft>
            </a:pPr>
            <a:r>
              <a:rPr sz="1200" b="0">
                <a:solidFill>
                  <a:srgbClr val="1A2332"/>
                </a:solidFill>
                <a:latin typeface="Tahoma"/>
              </a:rPr>
              <a:t>• آموزش عامل DQN برای تصمیم Transmit / Sleep</a:t>
            </a:r>
          </a:p>
          <a:p>
            <a:pPr algn="r">
              <a:spcAft>
                <a:spcPts val="600"/>
              </a:spcAft>
            </a:pPr>
            <a:r>
              <a:rPr sz="1200" b="0">
                <a:solidFill>
                  <a:srgbClr val="1A2332"/>
                </a:solidFill>
                <a:latin typeface="Tahoma"/>
              </a:rPr>
              <a:t>• مقایسه با Always Transmit، Always Sleep و Random</a:t>
            </a:r>
          </a:p>
          <a:p>
            <a:pPr algn="r">
              <a:spcAft>
                <a:spcPts val="600"/>
              </a:spcAft>
            </a:pPr>
            <a:r>
              <a:rPr sz="1200" b="0">
                <a:solidFill>
                  <a:srgbClr val="1A2332"/>
                </a:solidFill>
                <a:latin typeface="Tahoma"/>
              </a:rPr>
              <a:t>• داشبورد تعاملی با Streamlit</a:t>
            </a:r>
          </a:p>
        </p:txBody>
      </p:sp>
      <p:sp>
        <p:nvSpPr>
          <p:cNvPr id="43" name="Text Placeholder 42">
            <a:extLst>
              <a:ext uri="{FF2B5EF4-FFF2-40B4-BE49-F238E27FC236}">
                <a16:creationId xmlns:a16="http://schemas.microsoft.com/office/drawing/2014/main" id="{037F33E4-B9A2-4B37-B80E-CA86C4F439C9}"/>
              </a:ext>
            </a:extLst>
          </p:cNvPr>
          <p:cNvSpPr>
            <a:spLocks noGrp="1"/>
          </p:cNvSpPr>
          <p:nvPr>
            <p:ph type="body" sz="quarter" idx="24"/>
          </p:nvPr>
        </p:nvSpPr>
        <p:spPr/>
        <p:txBody>
          <a:bodyPr wrap="square"/>
          <a:lstStyle/>
          <a:p>
            <a:pPr algn="r"/>
            <a:r>
              <a:rPr sz="1800" b="1">
                <a:solidFill>
                  <a:srgbClr val="0F4C81"/>
                </a:solidFill>
                <a:latin typeface="Tahoma"/>
              </a:rPr>
              <a:t>اهداف پروژه</a:t>
            </a:r>
            <a:endParaRPr lang="en-US" dirty="0"/>
          </a:p>
        </p:txBody>
      </p:sp>
      <p:sp>
        <p:nvSpPr>
          <p:cNvPr id="44" name="Text Placeholder 43">
            <a:extLst>
              <a:ext uri="{FF2B5EF4-FFF2-40B4-BE49-F238E27FC236}">
                <a16:creationId xmlns:a16="http://schemas.microsoft.com/office/drawing/2014/main" id="{71D8D477-93EF-4F9E-824D-2208E3C70137}"/>
              </a:ext>
            </a:extLst>
          </p:cNvPr>
          <p:cNvSpPr>
            <a:spLocks noGrp="1"/>
          </p:cNvSpPr>
          <p:nvPr>
            <p:ph type="body" sz="quarter" idx="25"/>
          </p:nvPr>
        </p:nvSpPr>
        <p:spPr/>
        <p:txBody>
          <a:bodyPr wrap="square"/>
          <a:lstStyle/>
          <a:p>
            <a:pPr algn="r"/>
            <a:r>
              <a:rPr sz="1800" b="1">
                <a:solidFill>
                  <a:srgbClr val="0F4C81"/>
                </a:solidFill>
                <a:latin typeface="Tahoma"/>
              </a:rPr>
              <a:t>روش پیشنهادی</a:t>
            </a:r>
            <a:endParaRPr lang="en-US" dirty="0"/>
          </a:p>
        </p:txBody>
      </p:sp>
      <p:sp>
        <p:nvSpPr>
          <p:cNvPr id="45" name="Text Placeholder 44">
            <a:extLst>
              <a:ext uri="{FF2B5EF4-FFF2-40B4-BE49-F238E27FC236}">
                <a16:creationId xmlns:a16="http://schemas.microsoft.com/office/drawing/2014/main" id="{8873ABAC-9401-4847-91FA-0CFA6E82BA68}"/>
              </a:ext>
            </a:extLst>
          </p:cNvPr>
          <p:cNvSpPr>
            <a:spLocks noGrp="1"/>
          </p:cNvSpPr>
          <p:nvPr>
            <p:ph type="body" sz="quarter" idx="26"/>
          </p:nvPr>
        </p:nvSpPr>
        <p:spPr/>
        <p:txBody>
          <a:bodyPr wrap="square"/>
          <a:lstStyle/>
          <a:p>
            <a:pPr algn="r">
              <a:spcAft>
                <a:spcPts val="600"/>
              </a:spcAft>
            </a:pPr>
            <a:r>
              <a:rPr sz="1200" b="0">
                <a:solidFill>
                  <a:srgbClr val="1A2332"/>
                </a:solidFill>
                <a:latin typeface="Tahoma"/>
              </a:rPr>
              <a:t>• حالت نود: active / sleep / dead</a:t>
            </a:r>
            <a:endParaRPr lang="en-US"/>
          </a:p>
          <a:p>
            <a:pPr algn="r">
              <a:spcAft>
                <a:spcPts val="600"/>
              </a:spcAft>
            </a:pPr>
            <a:r>
              <a:rPr sz="1200" b="0">
                <a:solidFill>
                  <a:srgbClr val="1A2332"/>
                </a:solidFill>
                <a:latin typeface="Tahoma"/>
              </a:rPr>
              <a:t>• مشاهده: انرژی نودها + زنده بودن + زمان</a:t>
            </a:r>
          </a:p>
          <a:p>
            <a:pPr algn="r">
              <a:spcAft>
                <a:spcPts val="600"/>
              </a:spcAft>
            </a:pPr>
            <a:r>
              <a:rPr sz="1200" b="0">
                <a:solidFill>
                  <a:srgbClr val="1A2332"/>
                </a:solidFill>
                <a:latin typeface="Tahoma"/>
              </a:rPr>
              <a:t>• عمل: Sleep یا Transmit برای هر نود</a:t>
            </a:r>
          </a:p>
          <a:p>
            <a:pPr algn="r">
              <a:spcAft>
                <a:spcPts val="600"/>
              </a:spcAft>
            </a:pPr>
            <a:r>
              <a:rPr sz="1200" b="0">
                <a:solidFill>
                  <a:srgbClr val="1A2332"/>
                </a:solidFill>
                <a:latin typeface="Tahoma"/>
              </a:rPr>
              <a:t>• پاداش: بسته و عمر بیشتر − مصرف انرژی − مرگ نود</a:t>
            </a:r>
          </a:p>
          <a:p>
            <a:pPr algn="r">
              <a:spcAft>
                <a:spcPts val="600"/>
              </a:spcAft>
            </a:pPr>
            <a:r>
              <a:rPr sz="1200" b="0">
                <a:solidFill>
                  <a:srgbClr val="1A2332"/>
                </a:solidFill>
                <a:latin typeface="Tahoma"/>
              </a:rPr>
              <a:t>• ابزار: Python، Gymnasium، Stable-Baselines3، Streamlit</a:t>
            </a:r>
          </a:p>
        </p:txBody>
      </p:sp>
      <p:sp>
        <p:nvSpPr>
          <p:cNvPr id="46" name="Text Placeholder 45">
            <a:extLst>
              <a:ext uri="{FF2B5EF4-FFF2-40B4-BE49-F238E27FC236}">
                <a16:creationId xmlns:a16="http://schemas.microsoft.com/office/drawing/2014/main" id="{F339D179-7BE5-4B68-9C1D-13C7B56D467F}"/>
              </a:ext>
            </a:extLst>
          </p:cNvPr>
          <p:cNvSpPr>
            <a:spLocks noGrp="1"/>
          </p:cNvSpPr>
          <p:nvPr>
            <p:ph type="body" sz="quarter" idx="27"/>
          </p:nvPr>
        </p:nvSpPr>
        <p:spPr/>
        <p:txBody>
          <a:bodyPr wrap="square"/>
          <a:lstStyle/>
          <a:p>
            <a:pPr algn="r"/>
            <a:r>
              <a:rPr sz="1800" b="1">
                <a:solidFill>
                  <a:srgbClr val="0F4C81"/>
                </a:solidFill>
                <a:latin typeface="Tahoma"/>
              </a:rPr>
              <a:t>نتیجه‌گیری و مراجع</a:t>
            </a:r>
            <a:endParaRPr lang="en-US" dirty="0"/>
          </a:p>
        </p:txBody>
      </p:sp>
      <p:sp>
        <p:nvSpPr>
          <p:cNvPr id="47" name="Text Placeholder 46">
            <a:extLst>
              <a:ext uri="{FF2B5EF4-FFF2-40B4-BE49-F238E27FC236}">
                <a16:creationId xmlns:a16="http://schemas.microsoft.com/office/drawing/2014/main" id="{FC906BF4-CE88-48FE-A0C9-E785A5096854}"/>
              </a:ext>
            </a:extLst>
          </p:cNvPr>
          <p:cNvSpPr>
            <a:spLocks noGrp="1"/>
          </p:cNvSpPr>
          <p:nvPr>
            <p:ph type="body" sz="quarter" idx="28"/>
          </p:nvPr>
        </p:nvSpPr>
        <p:spPr/>
        <p:txBody>
          <a:bodyPr wrap="square"/>
          <a:lstStyle/>
          <a:p>
            <a:pPr algn="r">
              <a:spcAft>
                <a:spcPts val="600"/>
              </a:spcAft>
            </a:pPr>
            <a:r>
              <a:rPr sz="1100" b="0">
                <a:solidFill>
                  <a:srgbClr val="1A2332"/>
                </a:solidFill>
                <a:latin typeface="Tahoma"/>
              </a:rPr>
              <a:t>DQN مصالحه‌ای میان تحویل بسته و حفظ انرژی یاد می‌گیرد. داشبورد امکان آموزش، اجرا و مقایسه سیاست‌ها را فراهم می‌کند.</a:t>
            </a:r>
            <a:endParaRPr lang="en-US"/>
          </a:p>
          <a:p>
            <a:pPr algn="r">
              <a:spcAft>
                <a:spcPts val="600"/>
              </a:spcAft>
            </a:pPr>
            <a:r>
              <a:rPr sz="1100" b="0">
                <a:solidFill>
                  <a:srgbClr val="1A2332"/>
                </a:solidFill>
                <a:latin typeface="Tahoma"/>
              </a:rPr>
              <a:t>آینده: Multi-Agent RL، مدل کانال واقعی، مسیریابی چندگامه، سخت‌افزار.</a:t>
            </a:r>
          </a:p>
          <a:p>
            <a:pPr algn="r">
              <a:spcAft>
                <a:spcPts val="600"/>
              </a:spcAft>
            </a:pPr>
            <a:r>
              <a:rPr sz="1100" b="0">
                <a:solidFill>
                  <a:srgbClr val="1A2332"/>
                </a:solidFill>
                <a:latin typeface="Tahoma"/>
              </a:rPr>
              <a:t>[1] Transforma Insights, 2026</a:t>
            </a:r>
          </a:p>
          <a:p>
            <a:pPr algn="r">
              <a:spcAft>
                <a:spcPts val="600"/>
              </a:spcAft>
            </a:pPr>
            <a:r>
              <a:rPr sz="1100" b="0">
                <a:solidFill>
                  <a:srgbClr val="1A2332"/>
                </a:solidFill>
                <a:latin typeface="Tahoma"/>
              </a:rPr>
              <a:t>[4] Heinzelman et al., LEACH, 2000</a:t>
            </a:r>
          </a:p>
          <a:p>
            <a:pPr algn="r">
              <a:spcAft>
                <a:spcPts val="600"/>
              </a:spcAft>
            </a:pPr>
            <a:r>
              <a:rPr sz="1100" b="0">
                <a:solidFill>
                  <a:srgbClr val="1A2332"/>
                </a:solidFill>
                <a:latin typeface="Tahoma"/>
              </a:rPr>
              <a:t>[8] Banerjee et al., NashDQNSleep, 2025</a:t>
            </a:r>
          </a:p>
          <a:p>
            <a:pPr algn="r">
              <a:spcAft>
                <a:spcPts val="600"/>
              </a:spcAft>
            </a:pPr>
            <a:r>
              <a:rPr sz="1100" b="0">
                <a:solidFill>
                  <a:srgbClr val="1A2332"/>
                </a:solidFill>
                <a:latin typeface="Tahoma"/>
              </a:rPr>
              <a:t>[9] Leong et al., DRL Sensor Scheduling, 2018</a:t>
            </a:r>
          </a:p>
        </p:txBody>
      </p:sp>
      <p:sp>
        <p:nvSpPr>
          <p:cNvPr id="48" name="Text Placeholder 47">
            <a:extLst>
              <a:ext uri="{FF2B5EF4-FFF2-40B4-BE49-F238E27FC236}">
                <a16:creationId xmlns:a16="http://schemas.microsoft.com/office/drawing/2014/main" id="{D9ACE7F3-786B-479F-9AE3-6EE0E70AA5CD}"/>
              </a:ext>
            </a:extLst>
          </p:cNvPr>
          <p:cNvSpPr>
            <a:spLocks noGrp="1"/>
          </p:cNvSpPr>
          <p:nvPr>
            <p:ph type="body" sz="quarter" idx="150"/>
          </p:nvPr>
        </p:nvSpPr>
        <p:spPr/>
        <p:txBody>
          <a:bodyPr wrap="square"/>
          <a:lstStyle/>
          <a:p>
            <a:pPr algn="ctr"/>
            <a:r>
              <a:rPr sz="1200" b="0">
                <a:solidFill>
                  <a:srgbClr val="1A2332"/>
                </a:solidFill>
                <a:latin typeface="Tahoma"/>
              </a:rPr>
              <a:t>دانشجو: امیرمحمد ذکاوتی  |  استاد راهنما: دکتر منیره عبدوس  |  دانشگاه شهید بهشتی  |  ۱۴۰۴</a:t>
            </a:r>
            <a:endParaRPr lang="en-US"/>
          </a:p>
        </p:txBody>
      </p:sp>
      <p:sp>
        <p:nvSpPr>
          <p:cNvPr id="49" name="Text Placeholder 48">
            <a:extLst>
              <a:ext uri="{FF2B5EF4-FFF2-40B4-BE49-F238E27FC236}">
                <a16:creationId xmlns:a16="http://schemas.microsoft.com/office/drawing/2014/main" id="{98D702CC-3296-429C-A7DA-FACBCDC336FC}"/>
              </a:ext>
            </a:extLst>
          </p:cNvPr>
          <p:cNvSpPr>
            <a:spLocks noGrp="1"/>
          </p:cNvSpPr>
          <p:nvPr>
            <p:ph type="body" sz="quarter" idx="151"/>
          </p:nvPr>
        </p:nvSpPr>
        <p:spPr/>
        <p:txBody>
          <a:bodyPr wrap="square">
            <a:normAutofit lnSpcReduction="10000"/>
          </a:bodyPr>
          <a:lstStyle/>
          <a:p>
            <a:pPr algn="ctr"/>
            <a:r>
              <a:rPr sz="1600" b="0">
                <a:solidFill>
                  <a:srgbClr val="1A2332"/>
                </a:solidFill>
                <a:latin typeface="Tahoma"/>
              </a:rPr>
              <a:t>IoT Energy Optimization using Deep Reinforcement Learning (DQN)</a:t>
            </a:r>
            <a:endParaRPr lang="en-US"/>
          </a:p>
        </p:txBody>
      </p:sp>
      <p:sp>
        <p:nvSpPr>
          <p:cNvPr id="50" name="Text Placeholder 49">
            <a:extLst>
              <a:ext uri="{FF2B5EF4-FFF2-40B4-BE49-F238E27FC236}">
                <a16:creationId xmlns:a16="http://schemas.microsoft.com/office/drawing/2014/main" id="{72746834-A4EE-45E3-9B02-C6F4ACE4C402}"/>
              </a:ext>
            </a:extLst>
          </p:cNvPr>
          <p:cNvSpPr>
            <a:spLocks noGrp="1"/>
          </p:cNvSpPr>
          <p:nvPr>
            <p:ph type="body" sz="quarter" idx="153"/>
          </p:nvPr>
        </p:nvSpPr>
        <p:spPr/>
        <p:txBody>
          <a:bodyPr wrap="square"/>
          <a:lstStyle/>
          <a:p>
            <a:pPr algn="ctr"/>
            <a:r>
              <a:rPr sz="2800" b="1">
                <a:solidFill>
                  <a:srgbClr val="0F4C81"/>
                </a:solidFill>
                <a:latin typeface="Tahoma"/>
              </a:rPr>
              <a:t>بهینه‌سازی مصرف انرژی در شبکه‌های اینترنت اشیا با یادگیری تقویتی عمیق</a:t>
            </a:r>
            <a:endParaRPr lang="en-US"/>
          </a:p>
        </p:txBody>
      </p:sp>
      <p:pic>
        <p:nvPicPr>
          <p:cNvPr id="51" name="Picture 50" descr="high_level_architecture.png"/>
          <p:cNvPicPr>
            <a:picLocks noChangeAspect="1"/>
          </p:cNvPicPr>
          <p:nvPr/>
        </p:nvPicPr>
        <p:blipFill>
          <a:blip r:embed="rId3"/>
          <a:stretch>
            <a:fillRect/>
          </a:stretch>
        </p:blipFill>
        <p:spPr>
          <a:xfrm>
            <a:off x="6389292" y="7400000"/>
            <a:ext cx="2885148" cy="9400000"/>
          </a:xfrm>
          <a:prstGeom prst="rect">
            <a:avLst/>
          </a:prstGeom>
        </p:spPr>
      </p:pic>
      <p:pic>
        <p:nvPicPr>
          <p:cNvPr id="52" name="Picture 51" descr="policy_comparison.png"/>
          <p:cNvPicPr>
            <a:picLocks noChangeAspect="1"/>
          </p:cNvPicPr>
          <p:nvPr/>
        </p:nvPicPr>
        <p:blipFill>
          <a:blip r:embed="rId4"/>
          <a:stretch>
            <a:fillRect/>
          </a:stretch>
        </p:blipFill>
        <p:spPr>
          <a:xfrm>
            <a:off x="15213167" y="7400000"/>
            <a:ext cx="13464865" cy="9400000"/>
          </a:xfrm>
          <a:prstGeom prst="rect">
            <a:avLst/>
          </a:prstGeom>
        </p:spPr>
      </p:pic>
      <p:pic>
        <p:nvPicPr>
          <p:cNvPr id="53" name="Picture 52" descr="energy_curves.png"/>
          <p:cNvPicPr>
            <a:picLocks noChangeAspect="1"/>
          </p:cNvPicPr>
          <p:nvPr/>
        </p:nvPicPr>
        <p:blipFill>
          <a:blip r:embed="rId5"/>
          <a:stretch>
            <a:fillRect/>
          </a:stretch>
        </p:blipFill>
        <p:spPr>
          <a:xfrm>
            <a:off x="29127466" y="8698467"/>
            <a:ext cx="13863733" cy="6803065"/>
          </a:xfrm>
          <a:prstGeom prst="rect">
            <a:avLst/>
          </a:prstGeom>
        </p:spPr>
      </p:pic>
    </p:spTree>
    <p:extLst>
      <p:ext uri="{BB962C8B-B14F-4D97-AF65-F5344CB8AC3E}">
        <p14:creationId xmlns:p14="http://schemas.microsoft.com/office/powerpoint/2010/main" val="783191702"/>
      </p:ext>
    </p:extLst>
  </p:cSld>
  <p:clrMapOvr>
    <a:masterClrMapping/>
  </p:clrMapOvr>
</p:sld>
</file>

<file path=ppt/theme/theme1.xml><?xml version="1.0" encoding="utf-8"?>
<a:theme xmlns:a="http://schemas.openxmlformats.org/drawingml/2006/main" name="36x48-Template-V2b">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ersian Poster">
      <a:majorFont>
        <a:latin typeface="Calibri"/>
        <a:ea typeface=""/>
        <a:cs typeface="B Titr"/>
      </a:majorFont>
      <a:minorFont>
        <a:latin typeface="Calibri"/>
        <a:ea typeface=""/>
        <a:cs typeface="B Nazani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5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1_Classic 3 Columns">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ersian Poster">
      <a:majorFont>
        <a:latin typeface="Calibri"/>
        <a:ea typeface=""/>
        <a:cs typeface="B Titr"/>
      </a:majorFont>
      <a:minorFont>
        <a:latin typeface="Calibri"/>
        <a:ea typeface=""/>
        <a:cs typeface="B Nazani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5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Persian Poster">
      <a:majorFont>
        <a:latin typeface="Calibri"/>
        <a:ea typeface=""/>
        <a:cs typeface="B Titr"/>
      </a:majorFont>
      <a:minorFont>
        <a:latin typeface="Calibri"/>
        <a:ea typeface=""/>
        <a:cs typeface="B Nazani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5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807</TotalTime>
  <Words>1</Words>
  <Application>Microsoft Office PowerPoint</Application>
  <PresentationFormat>Custom</PresentationFormat>
  <Paragraphs>1</Paragraphs>
  <Slides>1</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1</vt:i4>
      </vt:variant>
    </vt:vector>
  </HeadingPairs>
  <TitlesOfParts>
    <vt:vector size="9" baseType="lpstr">
      <vt:lpstr>Arial</vt:lpstr>
      <vt:lpstr>Arial Black</vt:lpstr>
      <vt:lpstr>Calibri</vt:lpstr>
      <vt:lpstr>Times New Roman</vt:lpstr>
      <vt:lpstr>Trebuchet MS</vt:lpstr>
      <vt:lpstr>36x48-Template-V2b</vt:lpstr>
      <vt:lpstr>1_Classic 3 Columns</vt:lpstr>
      <vt:lpstr>Classic - Wide Center</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shaniaki</cp:lastModifiedBy>
  <cp:revision>65</cp:revision>
  <dcterms:created xsi:type="dcterms:W3CDTF">2012-02-03T19:11:35Z</dcterms:created>
  <dcterms:modified xsi:type="dcterms:W3CDTF">2020-08-17T08:45:57Z</dcterms:modified>
</cp:coreProperties>
</file>