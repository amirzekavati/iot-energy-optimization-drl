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7"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pos="207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18" autoAdjust="0"/>
    <p:restoredTop sz="94694" autoAdjust="0"/>
  </p:normalViewPr>
  <p:slideViewPr>
    <p:cSldViewPr snapToGrid="0" snapToObjects="1" showGuides="1">
      <p:cViewPr varScale="1">
        <p:scale>
          <a:sx n="20" d="100"/>
          <a:sy n="20" d="100"/>
        </p:scale>
        <p:origin x="2316" y="90"/>
      </p:cViewPr>
      <p:guideLst>
        <p:guide orient="horz" pos="3318"/>
        <p:guide orient="horz" pos="288"/>
        <p:guide orient="horz" pos="20160"/>
        <p:guide orient="horz"/>
        <p:guide pos="581"/>
        <p:guide pos="27069"/>
        <p:guide pos="20741"/>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8/17/2020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8/17/2020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2456271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نتیجه‌گیری و روال‌های موجود برای کارهای آتی</a:t>
            </a:r>
            <a:endParaRPr lang="en-US" dirty="0"/>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منابع</a:t>
            </a:r>
            <a:endParaRPr lang="en-US" dirty="0"/>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مرور کارهای انجام شده</a:t>
            </a:r>
            <a:endParaRPr lang="en-US" dirty="0"/>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طرح مسئله</a:t>
            </a:r>
            <a:endParaRPr lang="en-US" dirty="0"/>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a:t>
            </a:r>
            <a:r>
              <a:rPr lang="fa-IR" dirty="0"/>
              <a:t>ادبیات پژوهش</a:t>
            </a:r>
            <a:endParaRPr lang="en-US" dirty="0"/>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fa-IR" dirty="0"/>
              <a:t>نام استاد راهنما</a:t>
            </a:r>
            <a:endParaRPr lang="en-US" dirty="0"/>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fa-IR" dirty="0"/>
              <a:t>نام دانشجو</a:t>
            </a:r>
            <a:endParaRPr lang="en-US" dirty="0"/>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fa-IR" dirty="0"/>
              <a:t>عنوان پوستر</a:t>
            </a:r>
            <a:endParaRPr lang="en-US" dirty="0"/>
          </a:p>
        </p:txBody>
      </p:sp>
      <p:sp>
        <p:nvSpPr>
          <p:cNvPr id="31" name="TextBox 30"/>
          <p:cNvSpPr txBox="1"/>
          <p:nvPr userDrawn="1"/>
        </p:nvSpPr>
        <p:spPr>
          <a:xfrm>
            <a:off x="14272591" y="9899374"/>
            <a:ext cx="4134679" cy="477054"/>
          </a:xfrm>
          <a:prstGeom prst="rect">
            <a:avLst/>
          </a:prstGeom>
          <a:noFill/>
        </p:spPr>
        <p:txBody>
          <a:bodyPr wrap="square" rtlCol="0">
            <a:spAutoFit/>
          </a:bodyPr>
          <a:lstStyle/>
          <a:p>
            <a:endParaRPr lang="en-US" sz="2500" dirty="0">
              <a:solidFill>
                <a:schemeClr val="accent5">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hyperlink" Target="https://www.posterpresentations.com/how-to-change-the-research-poster-template-colors.html" TargetMode="External"/><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hyperlink" Target="https://www.posterpresentations.com/how-to-change-the-research-poster-template-colors.html" TargetMode="External"/><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hyperlink" Target="https://www.posterpresentations.com/how-to-change-the-research-poster-template-colors.html" TargetMode="External"/><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 name="Rectangle 67"/>
          <p:cNvSpPr/>
          <p:nvPr userDrawn="1"/>
        </p:nvSpPr>
        <p:spPr>
          <a:xfrm rot="10800000">
            <a:off x="0"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p:cNvSpPr/>
          <p:nvPr userDrawn="1"/>
        </p:nvSpPr>
        <p:spPr>
          <a:xfrm>
            <a:off x="446073" y="5475145"/>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p:cNvSpPr/>
          <p:nvPr userDrawn="1"/>
        </p:nvSpPr>
        <p:spPr>
          <a:xfrm>
            <a:off x="11428937" y="5475142"/>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22411801" y="5475143"/>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p:cNvSpPr/>
          <p:nvPr userDrawn="1"/>
        </p:nvSpPr>
        <p:spPr>
          <a:xfrm>
            <a:off x="33394664" y="5475144"/>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6"/>
          <p:cNvSpPr>
            <a:spLocks noChangeArrowheads="1"/>
          </p:cNvSpPr>
          <p:nvPr/>
        </p:nvSpPr>
        <p:spPr bwMode="auto">
          <a:xfrm>
            <a:off x="0" y="0"/>
            <a:ext cx="43891200" cy="4800600"/>
          </a:xfrm>
          <a:prstGeom prst="rect">
            <a:avLst/>
          </a:prstGeom>
          <a:noFill/>
          <a:ln w="9525">
            <a:no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6" name="Rectangle 5"/>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Table 13">
            <a:extLst>
              <a:ext uri="{FF2B5EF4-FFF2-40B4-BE49-F238E27FC236}">
                <a16:creationId xmlns:a16="http://schemas.microsoft.com/office/drawing/2014/main" id="{5E7E35C1-C5E6-D449-BDEC-ABC64AD5AC16}"/>
              </a:ext>
            </a:extLst>
          </p:cNvPr>
          <p:cNvGraphicFramePr>
            <a:graphicFrameLocks noGrp="1"/>
          </p:cNvGraphicFramePr>
          <p:nvPr userDrawn="1">
            <p:extLst>
              <p:ext uri="{D42A27DB-BD31-4B8C-83A1-F6EECF244321}">
                <p14:modId xmlns:p14="http://schemas.microsoft.com/office/powerpoint/2010/main" val="122335393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a:extLst>
              <a:ext uri="{FF2B5EF4-FFF2-40B4-BE49-F238E27FC236}">
                <a16:creationId xmlns:a16="http://schemas.microsoft.com/office/drawing/2014/main" id="{A320BF44-9B9A-C84B-83BB-0BF518EB46F3}"/>
              </a:ext>
            </a:extLst>
          </p:cNvPr>
          <p:cNvGraphicFramePr>
            <a:graphicFrameLocks noGrp="1"/>
          </p:cNvGraphicFramePr>
          <p:nvPr userDrawn="1">
            <p:extLst>
              <p:ext uri="{D42A27DB-BD31-4B8C-83A1-F6EECF244321}">
                <p14:modId xmlns:p14="http://schemas.microsoft.com/office/powerpoint/2010/main" val="141159618"/>
              </p:ext>
            </p:extLst>
          </p:nvPr>
        </p:nvGraphicFramePr>
        <p:xfrm>
          <a:off x="44635119" y="14098"/>
          <a:ext cx="9619281" cy="32847657"/>
        </p:xfrm>
        <a:graphic>
          <a:graphicData uri="http://schemas.openxmlformats.org/drawingml/2006/table">
            <a:tbl>
              <a:tblPr firstRow="1" bandRow="1">
                <a:tableStyleId>{5C22544A-7EE6-4342-B048-85BDC9FD1C3A}</a:tableStyleId>
              </a:tblPr>
              <a:tblGrid>
                <a:gridCol w="3585856">
                  <a:extLst>
                    <a:ext uri="{9D8B030D-6E8A-4147-A177-3AD203B41FA5}">
                      <a16:colId xmlns:a16="http://schemas.microsoft.com/office/drawing/2014/main" val="20000"/>
                    </a:ext>
                  </a:extLst>
                </a:gridCol>
                <a:gridCol w="1199648">
                  <a:extLst>
                    <a:ext uri="{9D8B030D-6E8A-4147-A177-3AD203B41FA5}">
                      <a16:colId xmlns:a16="http://schemas.microsoft.com/office/drawing/2014/main" val="997673227"/>
                    </a:ext>
                  </a:extLst>
                </a:gridCol>
                <a:gridCol w="4833777">
                  <a:extLst>
                    <a:ext uri="{9D8B030D-6E8A-4147-A177-3AD203B41FA5}">
                      <a16:colId xmlns:a16="http://schemas.microsoft.com/office/drawing/2014/main" val="4164475170"/>
                    </a:ext>
                  </a:extLst>
                </a:gridCol>
              </a:tblGrid>
              <a:tr h="129623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6923">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4805">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5361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91719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72668">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437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a:cs typeface="Arial"/>
                      </a:endParaRP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734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1" noProof="0" dirty="0">
                        <a:solidFill>
                          <a:srgbClr val="FFC000"/>
                        </a:solidFill>
                        <a:latin typeface="Arial"/>
                        <a:cs typeface="Arial"/>
                      </a:endParaRPr>
                    </a:p>
                  </a:txBody>
                  <a:tcPr marL="182880" marT="137160">
                    <a:solidFill>
                      <a:srgbClr val="00336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176075">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00444">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pic>
        <p:nvPicPr>
          <p:cNvPr id="3" name="Picture 2">
            <a:extLst>
              <a:ext uri="{FF2B5EF4-FFF2-40B4-BE49-F238E27FC236}">
                <a16:creationId xmlns:a16="http://schemas.microsoft.com/office/drawing/2014/main" id="{0122D122-A46F-4A64-8521-6A9703AE9046}"/>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14955" y="325042"/>
            <a:ext cx="2709763" cy="2709763"/>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ectangle 39"/>
          <p:cNvSpPr/>
          <p:nvPr userDrawn="1"/>
        </p:nvSpPr>
        <p:spPr>
          <a:xfrm rot="10800000">
            <a:off x="-6419"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1484177" y="32306273"/>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9" name="Rectangle 38"/>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p:cNvSpPr/>
          <p:nvPr userDrawn="1"/>
        </p:nvSpPr>
        <p:spPr>
          <a:xfrm>
            <a:off x="29382628" y="5392017"/>
            <a:ext cx="13577436" cy="26757874"/>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5156882" y="5370818"/>
            <a:ext cx="13577436" cy="26779073"/>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p:cNvSpPr/>
          <p:nvPr userDrawn="1"/>
        </p:nvSpPr>
        <p:spPr>
          <a:xfrm>
            <a:off x="931136" y="5413216"/>
            <a:ext cx="13577436"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C75130E6-6704-644C-A719-D96EFFB272F3}"/>
              </a:ext>
            </a:extLst>
          </p:cNvPr>
          <p:cNvGraphicFramePr>
            <a:graphicFrameLocks noGrp="1"/>
          </p:cNvGraphicFramePr>
          <p:nvPr userDrawn="1">
            <p:extLst>
              <p:ext uri="{D42A27DB-BD31-4B8C-83A1-F6EECF244321}">
                <p14:modId xmlns:p14="http://schemas.microsoft.com/office/powerpoint/2010/main" val="122335393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2" name="Table 11">
            <a:extLst>
              <a:ext uri="{FF2B5EF4-FFF2-40B4-BE49-F238E27FC236}">
                <a16:creationId xmlns:a16="http://schemas.microsoft.com/office/drawing/2014/main" id="{2381AE59-5942-394D-8867-C092283E8235}"/>
              </a:ext>
            </a:extLst>
          </p:cNvPr>
          <p:cNvGraphicFramePr>
            <a:graphicFrameLocks noGrp="1"/>
          </p:cNvGraphicFramePr>
          <p:nvPr userDrawn="1">
            <p:extLst>
              <p:ext uri="{D42A27DB-BD31-4B8C-83A1-F6EECF244321}">
                <p14:modId xmlns:p14="http://schemas.microsoft.com/office/powerpoint/2010/main" val="141159618"/>
              </p:ext>
            </p:extLst>
          </p:nvPr>
        </p:nvGraphicFramePr>
        <p:xfrm>
          <a:off x="44635119" y="14098"/>
          <a:ext cx="9619281" cy="32847657"/>
        </p:xfrm>
        <a:graphic>
          <a:graphicData uri="http://schemas.openxmlformats.org/drawingml/2006/table">
            <a:tbl>
              <a:tblPr firstRow="1" bandRow="1">
                <a:tableStyleId>{5C22544A-7EE6-4342-B048-85BDC9FD1C3A}</a:tableStyleId>
              </a:tblPr>
              <a:tblGrid>
                <a:gridCol w="3585856">
                  <a:extLst>
                    <a:ext uri="{9D8B030D-6E8A-4147-A177-3AD203B41FA5}">
                      <a16:colId xmlns:a16="http://schemas.microsoft.com/office/drawing/2014/main" val="20000"/>
                    </a:ext>
                  </a:extLst>
                </a:gridCol>
                <a:gridCol w="1199648">
                  <a:extLst>
                    <a:ext uri="{9D8B030D-6E8A-4147-A177-3AD203B41FA5}">
                      <a16:colId xmlns:a16="http://schemas.microsoft.com/office/drawing/2014/main" val="997673227"/>
                    </a:ext>
                  </a:extLst>
                </a:gridCol>
                <a:gridCol w="4833777">
                  <a:extLst>
                    <a:ext uri="{9D8B030D-6E8A-4147-A177-3AD203B41FA5}">
                      <a16:colId xmlns:a16="http://schemas.microsoft.com/office/drawing/2014/main" val="4164475170"/>
                    </a:ext>
                  </a:extLst>
                </a:gridCol>
              </a:tblGrid>
              <a:tr h="129623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6923">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4805">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5361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91719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72668">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437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a:cs typeface="Arial"/>
                      </a:endParaRP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734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1" noProof="0" dirty="0">
                        <a:solidFill>
                          <a:srgbClr val="FFC000"/>
                        </a:solidFill>
                        <a:latin typeface="Arial"/>
                        <a:cs typeface="Arial"/>
                      </a:endParaRPr>
                    </a:p>
                  </a:txBody>
                  <a:tcPr marL="182880" marT="137160">
                    <a:solidFill>
                      <a:srgbClr val="00336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176075">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00444">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pic>
        <p:nvPicPr>
          <p:cNvPr id="2" name="Picture 1">
            <a:extLst>
              <a:ext uri="{FF2B5EF4-FFF2-40B4-BE49-F238E27FC236}">
                <a16:creationId xmlns:a16="http://schemas.microsoft.com/office/drawing/2014/main" id="{6FB69535-EDF1-488D-A1B1-881C96D4A01C}"/>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14955" y="325042"/>
            <a:ext cx="2709763" cy="2709763"/>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484177" y="32232601"/>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37" name="Rectangle 36"/>
          <p:cNvSpPr/>
          <p:nvPr userDrawn="1"/>
        </p:nvSpPr>
        <p:spPr>
          <a:xfrm rot="10800000">
            <a:off x="-6419"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 Box 14"/>
          <p:cNvSpPr txBox="1">
            <a:spLocks noChangeArrowheads="1"/>
          </p:cNvSpPr>
          <p:nvPr userDrawn="1"/>
        </p:nvSpPr>
        <p:spPr bwMode="auto">
          <a:xfrm>
            <a:off x="1484177" y="32306273"/>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11" name="Table 10">
            <a:extLst>
              <a:ext uri="{FF2B5EF4-FFF2-40B4-BE49-F238E27FC236}">
                <a16:creationId xmlns:a16="http://schemas.microsoft.com/office/drawing/2014/main" id="{C1C9EC77-7FF5-5E4F-9D40-E8ECD338CE67}"/>
              </a:ext>
            </a:extLst>
          </p:cNvPr>
          <p:cNvGraphicFramePr>
            <a:graphicFrameLocks noGrp="1"/>
          </p:cNvGraphicFramePr>
          <p:nvPr userDrawn="1">
            <p:extLst>
              <p:ext uri="{D42A27DB-BD31-4B8C-83A1-F6EECF244321}">
                <p14:modId xmlns:p14="http://schemas.microsoft.com/office/powerpoint/2010/main" val="122335393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9" name="Table 8">
            <a:extLst>
              <a:ext uri="{FF2B5EF4-FFF2-40B4-BE49-F238E27FC236}">
                <a16:creationId xmlns:a16="http://schemas.microsoft.com/office/drawing/2014/main" id="{8EA12BE2-365E-9447-A07A-009B23598B4B}"/>
              </a:ext>
            </a:extLst>
          </p:cNvPr>
          <p:cNvGraphicFramePr>
            <a:graphicFrameLocks noGrp="1"/>
          </p:cNvGraphicFramePr>
          <p:nvPr userDrawn="1">
            <p:extLst>
              <p:ext uri="{D42A27DB-BD31-4B8C-83A1-F6EECF244321}">
                <p14:modId xmlns:p14="http://schemas.microsoft.com/office/powerpoint/2010/main" val="141159618"/>
              </p:ext>
            </p:extLst>
          </p:nvPr>
        </p:nvGraphicFramePr>
        <p:xfrm>
          <a:off x="44635119" y="14098"/>
          <a:ext cx="9619281" cy="32847657"/>
        </p:xfrm>
        <a:graphic>
          <a:graphicData uri="http://schemas.openxmlformats.org/drawingml/2006/table">
            <a:tbl>
              <a:tblPr firstRow="1" bandRow="1">
                <a:tableStyleId>{5C22544A-7EE6-4342-B048-85BDC9FD1C3A}</a:tableStyleId>
              </a:tblPr>
              <a:tblGrid>
                <a:gridCol w="3585856">
                  <a:extLst>
                    <a:ext uri="{9D8B030D-6E8A-4147-A177-3AD203B41FA5}">
                      <a16:colId xmlns:a16="http://schemas.microsoft.com/office/drawing/2014/main" val="20000"/>
                    </a:ext>
                  </a:extLst>
                </a:gridCol>
                <a:gridCol w="1199648">
                  <a:extLst>
                    <a:ext uri="{9D8B030D-6E8A-4147-A177-3AD203B41FA5}">
                      <a16:colId xmlns:a16="http://schemas.microsoft.com/office/drawing/2014/main" val="997673227"/>
                    </a:ext>
                  </a:extLst>
                </a:gridCol>
                <a:gridCol w="4833777">
                  <a:extLst>
                    <a:ext uri="{9D8B030D-6E8A-4147-A177-3AD203B41FA5}">
                      <a16:colId xmlns:a16="http://schemas.microsoft.com/office/drawing/2014/main" val="4164475170"/>
                    </a:ext>
                  </a:extLst>
                </a:gridCol>
              </a:tblGrid>
              <a:tr h="129623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6923">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4805">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5361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91719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72668">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437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a:cs typeface="Arial"/>
                      </a:endParaRP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734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1" noProof="0" dirty="0">
                        <a:solidFill>
                          <a:srgbClr val="FFC000"/>
                        </a:solidFill>
                        <a:latin typeface="Arial"/>
                        <a:cs typeface="Arial"/>
                      </a:endParaRPr>
                    </a:p>
                  </a:txBody>
                  <a:tcPr marL="182880" marT="137160">
                    <a:solidFill>
                      <a:srgbClr val="00336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176075">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00444">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pic>
        <p:nvPicPr>
          <p:cNvPr id="2" name="Picture 1">
            <a:extLst>
              <a:ext uri="{FF2B5EF4-FFF2-40B4-BE49-F238E27FC236}">
                <a16:creationId xmlns:a16="http://schemas.microsoft.com/office/drawing/2014/main" id="{9469689F-852D-4F8C-AF34-550451A9173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14955" y="325042"/>
            <a:ext cx="2709763" cy="2709763"/>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2B0A12F5-E9ED-4315-A166-C99ABC61051B}"/>
              </a:ext>
            </a:extLst>
          </p:cNvPr>
          <p:cNvSpPr>
            <a:spLocks noGrp="1"/>
          </p:cNvSpPr>
          <p:nvPr>
            <p:ph type="body" sz="quarter" idx="10"/>
          </p:nvPr>
        </p:nvSpPr>
        <p:spPr/>
        <p:txBody>
          <a:bodyPr wrap="square"/>
          <a:lstStyle/>
          <a:p>
            <a:pPr algn="r">
              <a:spcAft>
                <a:spcPts val="600"/>
              </a:spcAft>
            </a:pPr>
            <a:r>
              <a:rPr sz="1200" b="0">
                <a:solidFill>
                  <a:srgbClr val="1A2332"/>
                </a:solidFill>
                <a:latin typeface="Tahoma"/>
              </a:rPr>
              <a:t>نودهای حسگر IoT با باتری محدود کار می‌کنند. ارسال مداوم عمر شبکه را کم و خواب بیش از حد کیفیت پایش را پایین می‌آورد.</a:t>
            </a:r>
            <a:endParaRPr lang="en-US"/>
          </a:p>
          <a:p>
            <a:pPr algn="r">
              <a:spcAft>
                <a:spcPts val="600"/>
              </a:spcAft>
            </a:pPr>
            <a:r>
              <a:rPr sz="1200" b="0">
                <a:solidFill>
                  <a:srgbClr val="1A2332"/>
                </a:solidFill>
                <a:latin typeface="Tahoma"/>
              </a:rPr>
              <a:t>هدف: تصمیم هوشمند Transmit/Sleep برای تعادل بین انرژی، تحویل بسته و تازگی داده (AoI).</a:t>
            </a:r>
          </a:p>
        </p:txBody>
      </p:sp>
      <p:sp>
        <p:nvSpPr>
          <p:cNvPr id="39" name="Text Placeholder 38">
            <a:extLst>
              <a:ext uri="{FF2B5EF4-FFF2-40B4-BE49-F238E27FC236}">
                <a16:creationId xmlns:a16="http://schemas.microsoft.com/office/drawing/2014/main" id="{852E172C-94E6-4CA5-BA25-C019F07B20DF}"/>
              </a:ext>
            </a:extLst>
          </p:cNvPr>
          <p:cNvSpPr>
            <a:spLocks noGrp="1"/>
          </p:cNvSpPr>
          <p:nvPr>
            <p:ph type="body" sz="quarter" idx="11"/>
          </p:nvPr>
        </p:nvSpPr>
        <p:spPr/>
        <p:txBody>
          <a:bodyPr wrap="square"/>
          <a:lstStyle/>
          <a:p>
            <a:pPr algn="r"/>
            <a:r>
              <a:rPr sz="1800" b="1">
                <a:solidFill>
                  <a:srgbClr val="0F4C81"/>
                </a:solidFill>
                <a:latin typeface="Tahoma"/>
              </a:rPr>
              <a:t>مسئله و انگیزه</a:t>
            </a:r>
            <a:endParaRPr lang="en-US" dirty="0"/>
          </a:p>
        </p:txBody>
      </p:sp>
      <p:sp>
        <p:nvSpPr>
          <p:cNvPr id="40" name="Text Placeholder 39">
            <a:extLst>
              <a:ext uri="{FF2B5EF4-FFF2-40B4-BE49-F238E27FC236}">
                <a16:creationId xmlns:a16="http://schemas.microsoft.com/office/drawing/2014/main" id="{DB732016-7512-4004-BA9E-20C0D0103979}"/>
              </a:ext>
            </a:extLst>
          </p:cNvPr>
          <p:cNvSpPr>
            <a:spLocks noGrp="1"/>
          </p:cNvSpPr>
          <p:nvPr>
            <p:ph type="body" sz="quarter" idx="19"/>
          </p:nvPr>
        </p:nvSpPr>
        <p:spPr/>
        <p:txBody>
          <a:bodyPr wrap="square"/>
          <a:lstStyle/>
          <a:p>
            <a:pPr algn="r">
              <a:spcAft>
                <a:spcPts val="600"/>
              </a:spcAft>
            </a:pPr>
            <a:r>
              <a:rPr sz="1100" b="0">
                <a:solidFill>
                  <a:srgbClr val="1A2332"/>
                </a:solidFill>
                <a:latin typeface="Tahoma"/>
              </a:rPr>
              <a:t>تنظیمات ران: ۳ نود | افق ۵۰ | آموزش ۶۰۰۰ | میانگین ۵ اپیزود | seed=42</a:t>
            </a:r>
            <a:endParaRPr lang="en-US" dirty="0"/>
          </a:p>
          <a:p>
            <a:pPr algn="r">
              <a:spcAft>
                <a:spcPts val="600"/>
              </a:spcAft>
            </a:pPr>
            <a:r>
              <a:rPr sz="1100" b="0">
                <a:solidFill>
                  <a:srgbClr val="1A2332"/>
                </a:solidFill>
                <a:latin typeface="Tahoma"/>
              </a:rPr>
              <a:t>Transmit → Life 15.4 | Pkt 26.6 | PDR 0.70</a:t>
            </a:r>
          </a:p>
          <a:p>
            <a:pPr algn="r">
              <a:spcAft>
                <a:spcPts val="600"/>
              </a:spcAft>
            </a:pPr>
            <a:r>
              <a:rPr sz="1100" b="0">
                <a:solidFill>
                  <a:srgbClr val="1A2332"/>
                </a:solidFill>
                <a:latin typeface="Tahoma"/>
              </a:rPr>
              <a:t>Sleep → Life 50.0 | Pkt 0.0 | AoI 50.0</a:t>
            </a:r>
          </a:p>
          <a:p>
            <a:pPr algn="r">
              <a:spcAft>
                <a:spcPts val="600"/>
              </a:spcAft>
            </a:pPr>
            <a:r>
              <a:rPr sz="1100" b="0">
                <a:solidFill>
                  <a:srgbClr val="1A2332"/>
                </a:solidFill>
                <a:latin typeface="Tahoma"/>
              </a:rPr>
              <a:t>Random → Life 33.0 | Pkt 26.2 | PDR 0.70</a:t>
            </a:r>
          </a:p>
          <a:p>
            <a:pPr algn="r">
              <a:spcAft>
                <a:spcPts val="600"/>
              </a:spcAft>
            </a:pPr>
            <a:r>
              <a:rPr sz="1100" b="0">
                <a:solidFill>
                  <a:srgbClr val="1A2332"/>
                </a:solidFill>
                <a:latin typeface="Tahoma"/>
              </a:rPr>
              <a:t>DQN → Life 49.4 | Pkt 29.4 | PDR 0.76 | AoI 16.2</a:t>
            </a:r>
          </a:p>
          <a:p>
            <a:pPr algn="r">
              <a:spcAft>
                <a:spcPts val="600"/>
              </a:spcAft>
            </a:pPr>
            <a:r>
              <a:rPr sz="1100" b="0">
                <a:solidFill>
                  <a:srgbClr val="1A2332"/>
                </a:solidFill>
                <a:latin typeface="Tahoma"/>
              </a:rPr>
              <a:t>پیام: DQN بهترین مصالحه عمر شبکه، تحویل بسته و تازگی داده را دارد.</a:t>
            </a:r>
          </a:p>
        </p:txBody>
      </p:sp>
      <p:sp>
        <p:nvSpPr>
          <p:cNvPr id="41" name="Text Placeholder 40">
            <a:extLst>
              <a:ext uri="{FF2B5EF4-FFF2-40B4-BE49-F238E27FC236}">
                <a16:creationId xmlns:a16="http://schemas.microsoft.com/office/drawing/2014/main" id="{79A11DDF-D08C-4318-816C-EBCD9756843E}"/>
              </a:ext>
            </a:extLst>
          </p:cNvPr>
          <p:cNvSpPr>
            <a:spLocks noGrp="1"/>
          </p:cNvSpPr>
          <p:nvPr>
            <p:ph type="body" sz="quarter" idx="20"/>
          </p:nvPr>
        </p:nvSpPr>
        <p:spPr/>
        <p:txBody>
          <a:bodyPr wrap="square"/>
          <a:lstStyle/>
          <a:p>
            <a:pPr algn="r"/>
            <a:r>
              <a:rPr sz="1800" b="1">
                <a:solidFill>
                  <a:srgbClr val="0F4C81"/>
                </a:solidFill>
                <a:latin typeface="Tahoma"/>
              </a:rPr>
              <a:t>نتایج کلیدی (ران نهایی)</a:t>
            </a:r>
            <a:endParaRPr lang="en-US" dirty="0"/>
          </a:p>
        </p:txBody>
      </p:sp>
      <p:sp>
        <p:nvSpPr>
          <p:cNvPr id="42" name="Text Placeholder 41">
            <a:extLst>
              <a:ext uri="{FF2B5EF4-FFF2-40B4-BE49-F238E27FC236}">
                <a16:creationId xmlns:a16="http://schemas.microsoft.com/office/drawing/2014/main" id="{9EA33C76-DF75-4D6C-95B4-0F0336D94393}"/>
              </a:ext>
            </a:extLst>
          </p:cNvPr>
          <p:cNvSpPr>
            <a:spLocks noGrp="1"/>
          </p:cNvSpPr>
          <p:nvPr>
            <p:ph type="body" sz="quarter" idx="23"/>
          </p:nvPr>
        </p:nvSpPr>
        <p:spPr/>
        <p:txBody>
          <a:bodyPr wrap="square"/>
          <a:lstStyle/>
          <a:p>
            <a:pPr algn="r">
              <a:spcAft>
                <a:spcPts val="600"/>
              </a:spcAft>
            </a:pPr>
            <a:r>
              <a:rPr sz="1200" b="0">
                <a:solidFill>
                  <a:srgbClr val="1A2332"/>
                </a:solidFill>
                <a:latin typeface="Tahoma"/>
              </a:rPr>
              <a:t>• شبیه‌ساز IoT + انرژی فاصله‌آگاه + افت بسته</a:t>
            </a:r>
            <a:endParaRPr lang="en-US"/>
          </a:p>
          <a:p>
            <a:pPr algn="r">
              <a:spcAft>
                <a:spcPts val="600"/>
              </a:spcAft>
            </a:pPr>
            <a:r>
              <a:rPr sz="1200" b="0">
                <a:solidFill>
                  <a:srgbClr val="1A2332"/>
                </a:solidFill>
                <a:latin typeface="Tahoma"/>
              </a:rPr>
              <a:t>• محیط Gymnasium و آموزش DQN</a:t>
            </a:r>
          </a:p>
          <a:p>
            <a:pPr algn="r">
              <a:spcAft>
                <a:spcPts val="600"/>
              </a:spcAft>
            </a:pPr>
            <a:r>
              <a:rPr sz="1200" b="0">
                <a:solidFill>
                  <a:srgbClr val="1A2332"/>
                </a:solidFill>
                <a:latin typeface="Tahoma"/>
              </a:rPr>
              <a:t>• مقایسه با Transmit / Sleep / Random</a:t>
            </a:r>
          </a:p>
          <a:p>
            <a:pPr algn="r">
              <a:spcAft>
                <a:spcPts val="600"/>
              </a:spcAft>
            </a:pPr>
            <a:r>
              <a:rPr sz="1200" b="0">
                <a:solidFill>
                  <a:srgbClr val="1A2332"/>
                </a:solidFill>
                <a:latin typeface="Tahoma"/>
              </a:rPr>
              <a:t>• داشبورد Streamlit</a:t>
            </a:r>
          </a:p>
          <a:p>
            <a:pPr algn="r">
              <a:spcAft>
                <a:spcPts val="600"/>
              </a:spcAft>
            </a:pPr>
            <a:r>
              <a:rPr sz="1200" b="0">
                <a:solidFill>
                  <a:srgbClr val="1A2332"/>
                </a:solidFill>
                <a:latin typeface="Tahoma"/>
              </a:rPr>
              <a:t>معماری: UI → Simulation → RL → Analytics</a:t>
            </a:r>
          </a:p>
        </p:txBody>
      </p:sp>
      <p:sp>
        <p:nvSpPr>
          <p:cNvPr id="43" name="Text Placeholder 42">
            <a:extLst>
              <a:ext uri="{FF2B5EF4-FFF2-40B4-BE49-F238E27FC236}">
                <a16:creationId xmlns:a16="http://schemas.microsoft.com/office/drawing/2014/main" id="{037F33E4-B9A2-4B37-B80E-CA86C4F439C9}"/>
              </a:ext>
            </a:extLst>
          </p:cNvPr>
          <p:cNvSpPr>
            <a:spLocks noGrp="1"/>
          </p:cNvSpPr>
          <p:nvPr>
            <p:ph type="body" sz="quarter" idx="24"/>
          </p:nvPr>
        </p:nvSpPr>
        <p:spPr/>
        <p:txBody>
          <a:bodyPr wrap="square"/>
          <a:lstStyle/>
          <a:p>
            <a:pPr algn="r"/>
            <a:r>
              <a:rPr sz="1800" b="1">
                <a:solidFill>
                  <a:srgbClr val="0F4C81"/>
                </a:solidFill>
                <a:latin typeface="Tahoma"/>
              </a:rPr>
              <a:t>اهداف و معماری</a:t>
            </a:r>
            <a:endParaRPr lang="en-US" dirty="0"/>
          </a:p>
        </p:txBody>
      </p:sp>
      <p:sp>
        <p:nvSpPr>
          <p:cNvPr id="44" name="Text Placeholder 43">
            <a:extLst>
              <a:ext uri="{FF2B5EF4-FFF2-40B4-BE49-F238E27FC236}">
                <a16:creationId xmlns:a16="http://schemas.microsoft.com/office/drawing/2014/main" id="{71D8D477-93EF-4F9E-824D-2208E3C70137}"/>
              </a:ext>
            </a:extLst>
          </p:cNvPr>
          <p:cNvSpPr>
            <a:spLocks noGrp="1"/>
          </p:cNvSpPr>
          <p:nvPr>
            <p:ph type="body" sz="quarter" idx="25"/>
          </p:nvPr>
        </p:nvSpPr>
        <p:spPr/>
        <p:txBody>
          <a:bodyPr wrap="square"/>
          <a:lstStyle/>
          <a:p>
            <a:pPr algn="r"/>
            <a:r>
              <a:rPr sz="1800" b="1">
                <a:solidFill>
                  <a:srgbClr val="0F4C81"/>
                </a:solidFill>
                <a:latin typeface="Tahoma"/>
              </a:rPr>
              <a:t>روش پیشنهادی</a:t>
            </a:r>
            <a:endParaRPr lang="en-US" dirty="0"/>
          </a:p>
        </p:txBody>
      </p:sp>
      <p:sp>
        <p:nvSpPr>
          <p:cNvPr id="45" name="Text Placeholder 44">
            <a:extLst>
              <a:ext uri="{FF2B5EF4-FFF2-40B4-BE49-F238E27FC236}">
                <a16:creationId xmlns:a16="http://schemas.microsoft.com/office/drawing/2014/main" id="{8873ABAC-9401-4847-91FA-0CFA6E82BA68}"/>
              </a:ext>
            </a:extLst>
          </p:cNvPr>
          <p:cNvSpPr>
            <a:spLocks noGrp="1"/>
          </p:cNvSpPr>
          <p:nvPr>
            <p:ph type="body" sz="quarter" idx="26"/>
          </p:nvPr>
        </p:nvSpPr>
        <p:spPr/>
        <p:txBody>
          <a:bodyPr wrap="square"/>
          <a:lstStyle/>
          <a:p>
            <a:pPr algn="r">
              <a:spcAft>
                <a:spcPts val="600"/>
              </a:spcAft>
            </a:pPr>
            <a:r>
              <a:rPr sz="1200" b="0">
                <a:solidFill>
                  <a:srgbClr val="1A2332"/>
                </a:solidFill>
                <a:latin typeface="Tahoma"/>
              </a:rPr>
              <a:t>• هزینه TX وابسته به فاصله تا Gateway</a:t>
            </a:r>
            <a:endParaRPr lang="en-US"/>
          </a:p>
          <a:p>
            <a:pPr algn="r">
              <a:spcAft>
                <a:spcPts val="600"/>
              </a:spcAft>
            </a:pPr>
            <a:r>
              <a:rPr sz="1200" b="0">
                <a:solidFill>
                  <a:srgbClr val="1A2332"/>
                </a:solidFill>
                <a:latin typeface="Tahoma"/>
              </a:rPr>
              <a:t>• کانال ساده: احتمال تحویل با فاصله کم می‌شود</a:t>
            </a:r>
          </a:p>
          <a:p>
            <a:pPr algn="r">
              <a:spcAft>
                <a:spcPts val="600"/>
              </a:spcAft>
            </a:pPr>
            <a:r>
              <a:rPr sz="1200" b="0">
                <a:solidFill>
                  <a:srgbClr val="1A2332"/>
                </a:solidFill>
                <a:latin typeface="Tahoma"/>
              </a:rPr>
              <a:t>• معیار AoI برای تازگی اطلاعات</a:t>
            </a:r>
          </a:p>
          <a:p>
            <a:pPr algn="r">
              <a:spcAft>
                <a:spcPts val="600"/>
              </a:spcAft>
            </a:pPr>
            <a:r>
              <a:rPr sz="1200" b="0">
                <a:solidFill>
                  <a:srgbClr val="1A2332"/>
                </a:solidFill>
                <a:latin typeface="Tahoma"/>
              </a:rPr>
              <a:t>• پاداش: بسته/عمر بیشتر − انرژی − AoI − drop</a:t>
            </a:r>
          </a:p>
          <a:p>
            <a:pPr algn="r">
              <a:spcAft>
                <a:spcPts val="600"/>
              </a:spcAft>
            </a:pPr>
            <a:r>
              <a:rPr sz="1200" b="0">
                <a:solidFill>
                  <a:srgbClr val="1A2332"/>
                </a:solidFill>
                <a:latin typeface="Tahoma"/>
              </a:rPr>
              <a:t>• ابزار: Python، Gymnasium، SB3، Streamlit</a:t>
            </a:r>
          </a:p>
        </p:txBody>
      </p:sp>
      <p:sp>
        <p:nvSpPr>
          <p:cNvPr id="46" name="Text Placeholder 45">
            <a:extLst>
              <a:ext uri="{FF2B5EF4-FFF2-40B4-BE49-F238E27FC236}">
                <a16:creationId xmlns:a16="http://schemas.microsoft.com/office/drawing/2014/main" id="{F339D179-7BE5-4B68-9C1D-13C7B56D467F}"/>
              </a:ext>
            </a:extLst>
          </p:cNvPr>
          <p:cNvSpPr>
            <a:spLocks noGrp="1"/>
          </p:cNvSpPr>
          <p:nvPr>
            <p:ph type="body" sz="quarter" idx="27"/>
          </p:nvPr>
        </p:nvSpPr>
        <p:spPr/>
        <p:txBody>
          <a:bodyPr wrap="square"/>
          <a:lstStyle/>
          <a:p>
            <a:pPr algn="r"/>
            <a:r>
              <a:rPr sz="1800" b="1">
                <a:solidFill>
                  <a:srgbClr val="0F4C81"/>
                </a:solidFill>
                <a:latin typeface="Tahoma"/>
              </a:rPr>
              <a:t>نتیجه‌گیری و مراجع</a:t>
            </a:r>
            <a:endParaRPr lang="en-US" dirty="0"/>
          </a:p>
        </p:txBody>
      </p:sp>
      <p:sp>
        <p:nvSpPr>
          <p:cNvPr id="47" name="Text Placeholder 46">
            <a:extLst>
              <a:ext uri="{FF2B5EF4-FFF2-40B4-BE49-F238E27FC236}">
                <a16:creationId xmlns:a16="http://schemas.microsoft.com/office/drawing/2014/main" id="{FC906BF4-CE88-48FE-A0C9-E785A5096854}"/>
              </a:ext>
            </a:extLst>
          </p:cNvPr>
          <p:cNvSpPr>
            <a:spLocks noGrp="1"/>
          </p:cNvSpPr>
          <p:nvPr>
            <p:ph type="body" sz="quarter" idx="28"/>
          </p:nvPr>
        </p:nvSpPr>
        <p:spPr/>
        <p:txBody>
          <a:bodyPr wrap="square"/>
          <a:lstStyle/>
          <a:p>
            <a:pPr algn="r">
              <a:spcAft>
                <a:spcPts val="600"/>
              </a:spcAft>
            </a:pPr>
            <a:r>
              <a:rPr sz="1100" b="0">
                <a:solidFill>
                  <a:srgbClr val="1A2332"/>
                </a:solidFill>
                <a:latin typeface="Tahoma"/>
              </a:rPr>
              <a:t>با مدل فاصله/افت بسته/AoI، DQN از سیاست‌های ثابت بهتر مصالحه می‌کند.</a:t>
            </a:r>
            <a:endParaRPr lang="en-US"/>
          </a:p>
          <a:p>
            <a:pPr algn="r">
              <a:spcAft>
                <a:spcPts val="600"/>
              </a:spcAft>
            </a:pPr>
            <a:r>
              <a:rPr sz="1100" b="0">
                <a:solidFill>
                  <a:srgbClr val="1A2332"/>
                </a:solidFill>
                <a:latin typeface="Tahoma"/>
              </a:rPr>
              <a:t>آینده: آموزش بهتر برای n بزرگ‌تر، Multi-Agent RL، سخت‌افزار واقعی.</a:t>
            </a:r>
          </a:p>
          <a:p>
            <a:pPr algn="r">
              <a:spcAft>
                <a:spcPts val="600"/>
              </a:spcAft>
            </a:pPr>
            <a:r>
              <a:rPr sz="1100" b="0">
                <a:solidFill>
                  <a:srgbClr val="1A2332"/>
                </a:solidFill>
                <a:latin typeface="Tahoma"/>
              </a:rPr>
              <a:t>[1] Transforma Insights, 2026</a:t>
            </a:r>
          </a:p>
          <a:p>
            <a:pPr algn="r">
              <a:spcAft>
                <a:spcPts val="600"/>
              </a:spcAft>
            </a:pPr>
            <a:r>
              <a:rPr sz="1100" b="0">
                <a:solidFill>
                  <a:srgbClr val="1A2332"/>
                </a:solidFill>
                <a:latin typeface="Tahoma"/>
              </a:rPr>
              <a:t>[4] Heinzelman et al., LEACH, 2000</a:t>
            </a:r>
          </a:p>
          <a:p>
            <a:pPr algn="r">
              <a:spcAft>
                <a:spcPts val="600"/>
              </a:spcAft>
            </a:pPr>
            <a:r>
              <a:rPr sz="1100" b="0">
                <a:solidFill>
                  <a:srgbClr val="1A2332"/>
                </a:solidFill>
                <a:latin typeface="Tahoma"/>
              </a:rPr>
              <a:t>[8] Banerjee et al., NashDQNSleep, 2025</a:t>
            </a:r>
          </a:p>
          <a:p>
            <a:pPr algn="r">
              <a:spcAft>
                <a:spcPts val="600"/>
              </a:spcAft>
            </a:pPr>
            <a:r>
              <a:rPr sz="1100" b="0">
                <a:solidFill>
                  <a:srgbClr val="1A2332"/>
                </a:solidFill>
                <a:latin typeface="Tahoma"/>
              </a:rPr>
              <a:t>[9] Leong et al., DRL Sensor Scheduling, 2018</a:t>
            </a:r>
          </a:p>
        </p:txBody>
      </p:sp>
      <p:sp>
        <p:nvSpPr>
          <p:cNvPr id="48" name="Text Placeholder 47">
            <a:extLst>
              <a:ext uri="{FF2B5EF4-FFF2-40B4-BE49-F238E27FC236}">
                <a16:creationId xmlns:a16="http://schemas.microsoft.com/office/drawing/2014/main" id="{D9ACE7F3-786B-479F-9AE3-6EE0E70AA5CD}"/>
              </a:ext>
            </a:extLst>
          </p:cNvPr>
          <p:cNvSpPr>
            <a:spLocks noGrp="1"/>
          </p:cNvSpPr>
          <p:nvPr>
            <p:ph type="body" sz="quarter" idx="150"/>
          </p:nvPr>
        </p:nvSpPr>
        <p:spPr/>
        <p:txBody>
          <a:bodyPr wrap="square"/>
          <a:lstStyle/>
          <a:p>
            <a:pPr algn="ctr"/>
            <a:r>
              <a:rPr sz="1200" b="0">
                <a:solidFill>
                  <a:srgbClr val="1A2332"/>
                </a:solidFill>
                <a:latin typeface="Tahoma"/>
              </a:rPr>
              <a:t>دانشجو: امیرمحمد ذکاوتی  |  استاد راهنما: دکتر منیره عبدوس  |  دانشگاه شهید بهشتی  |  ۱۴۰۴</a:t>
            </a:r>
            <a:endParaRPr lang="en-US"/>
          </a:p>
        </p:txBody>
      </p:sp>
      <p:sp>
        <p:nvSpPr>
          <p:cNvPr id="49" name="Text Placeholder 48">
            <a:extLst>
              <a:ext uri="{FF2B5EF4-FFF2-40B4-BE49-F238E27FC236}">
                <a16:creationId xmlns:a16="http://schemas.microsoft.com/office/drawing/2014/main" id="{98D702CC-3296-429C-A7DA-FACBCDC336FC}"/>
              </a:ext>
            </a:extLst>
          </p:cNvPr>
          <p:cNvSpPr>
            <a:spLocks noGrp="1"/>
          </p:cNvSpPr>
          <p:nvPr>
            <p:ph type="body" sz="quarter" idx="151"/>
          </p:nvPr>
        </p:nvSpPr>
        <p:spPr/>
        <p:txBody>
          <a:bodyPr wrap="square">
            <a:normAutofit lnSpcReduction="10000"/>
          </a:bodyPr>
          <a:lstStyle/>
          <a:p>
            <a:pPr algn="ctr"/>
            <a:r>
              <a:rPr sz="1600" b="0">
                <a:solidFill>
                  <a:srgbClr val="1A2332"/>
                </a:solidFill>
                <a:latin typeface="Tahoma"/>
              </a:rPr>
              <a:t>IoT Energy Optimization using Deep Reinforcement Learning (DQN)</a:t>
            </a:r>
            <a:endParaRPr lang="en-US"/>
          </a:p>
        </p:txBody>
      </p:sp>
      <p:sp>
        <p:nvSpPr>
          <p:cNvPr id="50" name="Text Placeholder 49">
            <a:extLst>
              <a:ext uri="{FF2B5EF4-FFF2-40B4-BE49-F238E27FC236}">
                <a16:creationId xmlns:a16="http://schemas.microsoft.com/office/drawing/2014/main" id="{72746834-A4EE-45E3-9B02-C6F4ACE4C402}"/>
              </a:ext>
            </a:extLst>
          </p:cNvPr>
          <p:cNvSpPr>
            <a:spLocks noGrp="1"/>
          </p:cNvSpPr>
          <p:nvPr>
            <p:ph type="body" sz="quarter" idx="153"/>
          </p:nvPr>
        </p:nvSpPr>
        <p:spPr/>
        <p:txBody>
          <a:bodyPr wrap="square"/>
          <a:lstStyle/>
          <a:p>
            <a:pPr algn="ctr"/>
            <a:r>
              <a:rPr sz="2800" b="1">
                <a:solidFill>
                  <a:srgbClr val="0F4C81"/>
                </a:solidFill>
                <a:latin typeface="Tahoma"/>
              </a:rPr>
              <a:t>بهینه‌سازی مصرف انرژی در شبکه‌های اینترنت اشیا با یادگیری تقویتی عمیق</a:t>
            </a:r>
            <a:endParaRPr lang="en-US"/>
          </a:p>
        </p:txBody>
      </p:sp>
      <p:pic>
        <p:nvPicPr>
          <p:cNvPr id="51" name="Picture 50" descr="high_level_architecture.png"/>
          <p:cNvPicPr>
            <a:picLocks noChangeAspect="1"/>
          </p:cNvPicPr>
          <p:nvPr/>
        </p:nvPicPr>
        <p:blipFill>
          <a:blip r:embed="rId3"/>
          <a:stretch>
            <a:fillRect/>
          </a:stretch>
        </p:blipFill>
        <p:spPr>
          <a:xfrm>
            <a:off x="21531244" y="7150000"/>
            <a:ext cx="828712" cy="2700000"/>
          </a:xfrm>
          <a:prstGeom prst="rect">
            <a:avLst/>
          </a:prstGeom>
        </p:spPr>
      </p:pic>
      <p:pic>
        <p:nvPicPr>
          <p:cNvPr id="52" name="Picture 51" descr="policy_comparison.png"/>
          <p:cNvPicPr>
            <a:picLocks noChangeAspect="1"/>
          </p:cNvPicPr>
          <p:nvPr/>
        </p:nvPicPr>
        <p:blipFill>
          <a:blip r:embed="rId4"/>
          <a:stretch>
            <a:fillRect/>
          </a:stretch>
        </p:blipFill>
        <p:spPr>
          <a:xfrm>
            <a:off x="9150368" y="10030000"/>
            <a:ext cx="4454864" cy="3110000"/>
          </a:xfrm>
          <a:prstGeom prst="rect">
            <a:avLst/>
          </a:prstGeom>
        </p:spPr>
      </p:pic>
      <p:pic>
        <p:nvPicPr>
          <p:cNvPr id="53" name="Picture 52" descr="energy_curves.png"/>
          <p:cNvPicPr>
            <a:picLocks noChangeAspect="1"/>
          </p:cNvPicPr>
          <p:nvPr/>
        </p:nvPicPr>
        <p:blipFill>
          <a:blip r:embed="rId5"/>
          <a:stretch>
            <a:fillRect/>
          </a:stretch>
        </p:blipFill>
        <p:spPr>
          <a:xfrm>
            <a:off x="29344519" y="10030000"/>
            <a:ext cx="6337762" cy="3110000"/>
          </a:xfrm>
          <a:prstGeom prst="rect">
            <a:avLst/>
          </a:prstGeom>
        </p:spPr>
      </p:pic>
      <p:pic>
        <p:nvPicPr>
          <p:cNvPr id="54" name="Picture 53" descr="aoi_curves.png"/>
          <p:cNvPicPr>
            <a:picLocks noChangeAspect="1"/>
          </p:cNvPicPr>
          <p:nvPr/>
        </p:nvPicPr>
        <p:blipFill>
          <a:blip r:embed="rId6"/>
          <a:stretch>
            <a:fillRect/>
          </a:stretch>
        </p:blipFill>
        <p:spPr>
          <a:xfrm>
            <a:off x="8208919" y="13320000"/>
            <a:ext cx="6337762" cy="3110000"/>
          </a:xfrm>
          <a:prstGeom prst="rect">
            <a:avLst/>
          </a:prstGeom>
        </p:spPr>
      </p:pic>
      <p:pic>
        <p:nvPicPr>
          <p:cNvPr id="55" name="Picture 54" descr="packets_curves.png"/>
          <p:cNvPicPr>
            <a:picLocks noChangeAspect="1"/>
          </p:cNvPicPr>
          <p:nvPr/>
        </p:nvPicPr>
        <p:blipFill>
          <a:blip r:embed="rId7"/>
          <a:stretch>
            <a:fillRect/>
          </a:stretch>
        </p:blipFill>
        <p:spPr>
          <a:xfrm>
            <a:off x="29344519" y="13320000"/>
            <a:ext cx="6337762" cy="3110000"/>
          </a:xfrm>
          <a:prstGeom prst="rect">
            <a:avLst/>
          </a:prstGeom>
        </p:spPr>
      </p:pic>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V2b">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ian Poster">
      <a:majorFont>
        <a:latin typeface="Calibri"/>
        <a:ea typeface=""/>
        <a:cs typeface="B Titr"/>
      </a:majorFont>
      <a:minorFont>
        <a:latin typeface="Calibri"/>
        <a:ea typeface=""/>
        <a:cs typeface="B Nazani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1_Classic 3 Column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ian Poster">
      <a:majorFont>
        <a:latin typeface="Calibri"/>
        <a:ea typeface=""/>
        <a:cs typeface="B Titr"/>
      </a:majorFont>
      <a:minorFont>
        <a:latin typeface="Calibri"/>
        <a:ea typeface=""/>
        <a:cs typeface="B Nazani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ian Poster">
      <a:majorFont>
        <a:latin typeface="Calibri"/>
        <a:ea typeface=""/>
        <a:cs typeface="B Titr"/>
      </a:majorFont>
      <a:minorFont>
        <a:latin typeface="Calibri"/>
        <a:ea typeface=""/>
        <a:cs typeface="B Nazani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807</TotalTime>
  <Words>1</Words>
  <Application>Microsoft Office PowerPoint</Application>
  <PresentationFormat>Custom</PresentationFormat>
  <Paragraphs>1</Paragraphs>
  <Slides>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36x48-Template-V2b</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shaniaki</cp:lastModifiedBy>
  <cp:revision>65</cp:revision>
  <dcterms:created xsi:type="dcterms:W3CDTF">2012-02-03T19:11:35Z</dcterms:created>
  <dcterms:modified xsi:type="dcterms:W3CDTF">2020-08-17T08:45:57Z</dcterms:modified>
</cp:coreProperties>
</file>